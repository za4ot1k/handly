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3dc4a0538854047" /><Relationship Type="http://schemas.openxmlformats.org/officeDocument/2006/relationships/extended-properties" Target="/docProps/app.xml" Id="Rea7cbb242ae64dc1" /><Relationship Type="http://schemas.openxmlformats.org/officeDocument/2006/relationships/officeDocument" Target="/ppt/presentation.xml" Id="Rc46e7f42b19e4d2f" /></Relationships>
</file>

<file path=ppt/presentation.xml><?xml version="1.0" encoding="utf-8"?>
<p:presentation xmlns:p="http://schemas.openxmlformats.org/presentationml/2006/main">
  <p:sldMasterIdLst>
    <p:sldMasterId xmlns:r="http://schemas.openxmlformats.org/officeDocument/2006/relationships" id="2147483648" r:id="R5624efb45e1744f4"/>
    <p:sldMasterId xmlns:r="http://schemas.openxmlformats.org/officeDocument/2006/relationships" id="2147483655" r:id="Rc56032af64564781"/>
  </p:sldMasterIdLst>
  <p:notesMasterIdLst>
    <p:notesMasterId xmlns:r="http://schemas.openxmlformats.org/officeDocument/2006/relationships" r:id="Rdcf0d97f05ba4f68"/>
  </p:notesMasterIdLst>
  <p:sldIdLst>
    <p:sldId xmlns:r="http://schemas.openxmlformats.org/officeDocument/2006/relationships" id="256" r:id="R149877e9bb0d4fe2"/>
    <p:sldId xmlns:r="http://schemas.openxmlformats.org/officeDocument/2006/relationships" id="257" r:id="R09d502cf10034776"/>
    <p:sldId xmlns:r="http://schemas.openxmlformats.org/officeDocument/2006/relationships" id="258" r:id="R928bcae64c13438a"/>
    <p:sldId xmlns:r="http://schemas.openxmlformats.org/officeDocument/2006/relationships" id="259" r:id="R18567437e68c49ea"/>
    <p:sldId xmlns:r="http://schemas.openxmlformats.org/officeDocument/2006/relationships" id="260" r:id="R4671e8972b514c2c"/>
    <p:sldId xmlns:r="http://schemas.openxmlformats.org/officeDocument/2006/relationships" id="261" r:id="Re3f84977e1914e5c"/>
    <p:sldId xmlns:r="http://schemas.openxmlformats.org/officeDocument/2006/relationships" id="262" r:id="R9c8bf39cab1a4adc"/>
    <p:sldId xmlns:r="http://schemas.openxmlformats.org/officeDocument/2006/relationships" id="263" r:id="R90e8f1249d374676"/>
    <p:sldId xmlns:r="http://schemas.openxmlformats.org/officeDocument/2006/relationships" id="264" r:id="R30418f5fa11a4ce6"/>
    <p:sldId xmlns:r="http://schemas.openxmlformats.org/officeDocument/2006/relationships" id="265" r:id="R29a7da5cf58343b9"/>
    <p:sldId xmlns:r="http://schemas.openxmlformats.org/officeDocument/2006/relationships" id="266" r:id="R3aaf033fb3f24522"/>
    <p:sldId xmlns:r="http://schemas.openxmlformats.org/officeDocument/2006/relationships" id="267" r:id="R267755cc877f4b74"/>
    <p:sldId xmlns:r="http://schemas.openxmlformats.org/officeDocument/2006/relationships" id="268" r:id="R261d17804ace4f15"/>
    <p:sldId xmlns:r="http://schemas.openxmlformats.org/officeDocument/2006/relationships" id="269" r:id="R7621531355d741f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158bc4383934d19" /><Relationship Type="http://schemas.openxmlformats.org/officeDocument/2006/relationships/slideMaster" Target="/ppt/slideMasters/slideMaster1.xml" Id="R5624efb45e1744f4" /><Relationship Type="http://schemas.openxmlformats.org/officeDocument/2006/relationships/slideMaster" Target="/ppt/slideMasters/slideMaster2.xml" Id="Rc56032af64564781" /><Relationship Type="http://schemas.openxmlformats.org/officeDocument/2006/relationships/notesMaster" Target="/ppt/notesMasters/notesMaster1.xml" Id="Rdcf0d97f05ba4f68" /><Relationship Type="http://schemas.openxmlformats.org/officeDocument/2006/relationships/presProps" Target="/ppt/presProps.xml" Id="Re3c51fc82b4c4f9a" /><Relationship Type="http://schemas.openxmlformats.org/officeDocument/2006/relationships/tableStyles" Target="/ppt/tableStyles.xml" Id="R5b050e92a2db4103" /><Relationship Type="http://schemas.openxmlformats.org/officeDocument/2006/relationships/slide" Target="/ppt/slides/slide1.xml" Id="R149877e9bb0d4fe2" /><Relationship Type="http://schemas.openxmlformats.org/officeDocument/2006/relationships/slide" Target="/ppt/slides/slide2.xml" Id="R09d502cf10034776" /><Relationship Type="http://schemas.openxmlformats.org/officeDocument/2006/relationships/slide" Target="/ppt/slides/slide3.xml" Id="R928bcae64c13438a" /><Relationship Type="http://schemas.openxmlformats.org/officeDocument/2006/relationships/slide" Target="/ppt/slides/slide4.xml" Id="R18567437e68c49ea" /><Relationship Type="http://schemas.openxmlformats.org/officeDocument/2006/relationships/slide" Target="/ppt/slides/slide5.xml" Id="R4671e8972b514c2c" /><Relationship Type="http://schemas.openxmlformats.org/officeDocument/2006/relationships/slide" Target="/ppt/slides/slide6.xml" Id="Re3f84977e1914e5c" /><Relationship Type="http://schemas.openxmlformats.org/officeDocument/2006/relationships/slide" Target="/ppt/slides/slide7.xml" Id="R9c8bf39cab1a4adc" /><Relationship Type="http://schemas.openxmlformats.org/officeDocument/2006/relationships/slide" Target="/ppt/slides/slide8.xml" Id="R90e8f1249d374676" /><Relationship Type="http://schemas.openxmlformats.org/officeDocument/2006/relationships/slide" Target="/ppt/slides/slide9.xml" Id="R30418f5fa11a4ce6" /><Relationship Type="http://schemas.openxmlformats.org/officeDocument/2006/relationships/slide" Target="/ppt/slides/slide10.xml" Id="R29a7da5cf58343b9" /><Relationship Type="http://schemas.openxmlformats.org/officeDocument/2006/relationships/slide" Target="/ppt/slides/slide11.xml" Id="R3aaf033fb3f24522" /><Relationship Type="http://schemas.openxmlformats.org/officeDocument/2006/relationships/slide" Target="/ppt/slides/slide12.xml" Id="R267755cc877f4b74" /><Relationship Type="http://schemas.openxmlformats.org/officeDocument/2006/relationships/slide" Target="/ppt/slides/slide13.xml" Id="R261d17804ace4f15" /><Relationship Type="http://schemas.openxmlformats.org/officeDocument/2006/relationships/slide" Target="/ppt/slides/slide14.xml" Id="R7621531355d741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66447f10b6de4a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88cfe2ab504b36" /><Relationship Type="http://schemas.openxmlformats.org/officeDocument/2006/relationships/notesMaster" Target="/ppt/notesMasters/notesMaster1.xml" Id="R4e685edc4b3b4f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899d4b339294c0e" /><Relationship Type="http://schemas.openxmlformats.org/officeDocument/2006/relationships/notesMaster" Target="/ppt/notesMasters/notesMaster1.xml" Id="R5f448217897c4c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1c7a994fed4d8b" /><Relationship Type="http://schemas.openxmlformats.org/officeDocument/2006/relationships/notesMaster" Target="/ppt/notesMasters/notesMaster1.xml" Id="R3eb9949833ad4cc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c9657c1afd4aff" /><Relationship Type="http://schemas.openxmlformats.org/officeDocument/2006/relationships/notesMaster" Target="/ppt/notesMasters/notesMaster1.xml" Id="Re8a0e004dbc341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edff6c6a2c4b81" /><Relationship Type="http://schemas.openxmlformats.org/officeDocument/2006/relationships/notesMaster" Target="/ppt/notesMasters/notesMaster1.xml" Id="R6fa14dbd3e3d4d94" /></Relationships>
</file>

<file path=ppt/notesSlides/_rels/notesSlide6.xml.rels>&#65279;<?xml version="1.0" encoding="utf-8"?><Relationships xmlns="http://schemas.openxmlformats.org/package/2006/relationships"><Relationship Type="http://schemas.openxmlformats.org/officeDocument/2006/relationships/slide" Target="/ppt/slides/slide6.xml" Id="R31cdc265b0ca45b5" /><Relationship Type="http://schemas.openxmlformats.org/officeDocument/2006/relationships/notesMaster" Target="/ppt/notesMasters/notesMaster1.xml" Id="R1493587a05b448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fcc51290c44193" /><Relationship Type="http://schemas.openxmlformats.org/officeDocument/2006/relationships/notesMaster" Target="/ppt/notesMasters/notesMaster1.xml" Id="R633217bbd34c49e1" /></Relationships>
</file>

<file path=ppt/notesSlides/_rels/notesSlide8.xml.rels>&#65279;<?xml version="1.0" encoding="utf-8"?><Relationships xmlns="http://schemas.openxmlformats.org/package/2006/relationships"><Relationship Type="http://schemas.openxmlformats.org/officeDocument/2006/relationships/slide" Target="/ppt/slides/slide8.xml" Id="R60e47ba37d8c418d" /><Relationship Type="http://schemas.openxmlformats.org/officeDocument/2006/relationships/notesMaster" Target="/ppt/notesMasters/notesMaster1.xml" Id="Rb60ff94e97b04c29" /></Relationships>
</file>

<file path=ppt/notesSlides/_rels/notesSlide9.xml.rels>&#65279;<?xml version="1.0" encoding="utf-8"?><Relationships xmlns="http://schemas.openxmlformats.org/package/2006/relationships"><Relationship Type="http://schemas.openxmlformats.org/officeDocument/2006/relationships/slide" Target="/ppt/slides/slide9.xml" Id="R7b24e4357205477a" /><Relationship Type="http://schemas.openxmlformats.org/officeDocument/2006/relationships/notesMaster" Target="/ppt/notesMasters/notesMaster1.xml" Id="Rabfc0fe70b284a2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4b5ad141f934f7c" /><Relationship Type="http://schemas.openxmlformats.org/officeDocument/2006/relationships/notesMaster" Target="/ppt/notesMasters/notesMaster1.xml" Id="Rf083d1a81150499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d3cd991835e469d" /><Relationship Type="http://schemas.openxmlformats.org/officeDocument/2006/relationships/notesMaster" Target="/ppt/notesMasters/notesMaster1.xml" Id="R3251cc34399f478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405c398d2544ff0" /><Relationship Type="http://schemas.openxmlformats.org/officeDocument/2006/relationships/notesMaster" Target="/ppt/notesMasters/notesMaster1.xml" Id="Rbc8d745ba73c4f4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2fcf9f8f2504a00" /><Relationship Type="http://schemas.openxmlformats.org/officeDocument/2006/relationships/notesMaster" Target="/ppt/notesMasters/notesMaster1.xml" Id="R4ecccde184c04b3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68eb5f9afd041b1" /><Relationship Type="http://schemas.openxmlformats.org/officeDocument/2006/relationships/notesMaster" Target="/ppt/notesMasters/notesMaster1.xml" Id="R2e947c905b4747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Помічник створюємо для власників невеликих сервісних бізнесів, які самі відповідають за роботу з клієнтами та щоденне адміністрування. Ідея полягає в тому, щоб об’єднати облік, клієнтські запити й календар у звичайній розмові. Першою аудиторією обираємо салони краси та незалежних майстрів в Україні. Це робочий вибір сегмента, який ще треба перевірити інтерв’ю. Сьогодні презентуємо концепцію та план розвитку, а не підтверджену виручку чи готові інтеграції. Імовірне запитання інвестора: чому саме ця команда здатна реалізувати задум? Засновник має доповнити відповідь власним досвідом, складом команди та причинами вибору ринку. Контакти й імена залишено для заповнення.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Вихідна гіпотеза полягає в тому, що власник витрачає від п’яти до десяти годин щотижня на адміністративні справи. Цей діапазон надано в описі проєкту, але він поки не підтверджений дослідженням. У салоні записи можуть жити в месенджері, витрати в нотатках, а клієнтська історія в пам’яті власника. Через розрив між цими інструментами з’являються пропущені звернення та помилки. На інтерв’ю потрібно просити показати останній робочий день і реальні операції. Інвестор запитає, чи проблема достатньо болюча для оплати. Відповідь має спиратися на виміряний час, частоту помилок і готовність заплатити за конкретний результат.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 слайді показано три ілюстративні сценарії майбутнього продукту. Підприємець ставить запитання про заробіток, просить записати клієнтку або додає витрату. Асистент повертає зрозумілий результат у тій самій розмові. Суми й записи вигадані та не представляють реальні операції. Важливо пояснити, що мовна модель розпізнає намір, а правила доступу й перевірки керують виконанням дій. Перед важливими змінами власник бачить деталі та підтверджує їх. Інвестор може запитати, чим це відрізняється від універсального чатбота. Наша продуктова гіпотеза полягає у спільному контексті клієнтів, календаря й обліку та у перевірюваній історії кожної дії.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Перша версія має закрити чотири пов’язані потреби: облік коштів, відповіді клієнтам, планування записів і введення голосом або текстом. Фото чека допоможе запропонувати категорію витрати, але користувач зможе її змінити. Звіти слід описувати як підготовку даних для податків, а не автоматичну гарантію відповідності законодавству. Банківські підключення, прогноз руху коштів, Instagram, Viber, WhatsApp і галузеві шаблони належать до другої версії. Усі ці можливості поки є планом. Інвестор запитає про ризик надто широкого продукту. Відповідь полягає у вузькій першій вертикалі, обмеженій кількості сценаріїв та поетапному запуску інтеграцій після перевірки попиту.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Користувач формулює завдання звичайними словами. Далі асистент розпізнає потрібну операцію, уточнює відсутні дані та показує, що планує зробити. Після підтвердження власник отримує результат і може перевірити його в історії. Ця послідовність важлива для фінансових операцій, де помилка має наслідки. Ми не припускаємо, що мовна модель завжди права. Потрібні обмежені дозволи, журнал дій, захист від повторного виконання та можливість виправлення. Імовірні запитання інвестора стосуватимуться точності, затримки відповіді та вартості одного запиту. Під час бети необхідно вимірювати ці показники окремо для кожного сценарію, а також частоту ручних уточнень.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Усі ринкові суми є індикативними оцінками з опису проєкту, а не результатом незалежного дослідження. Загальний ринок програм для малого бізнесу оцінено понад п’ятдесят мільярдів доларів. Доступний сегмент мікробізнесів, готових платити за AI-автоматизацію, задано діапазоном від трьох до п’яти мільярдів. Ціль п’ять-десять мільйонів річної повторюваної виручки за три роки є амбіцією, а не доведеною часткою ринку. За середнього доходу двадцять п’ять доларів на місяць це приблизно сімнадцять-тридцять три тисячі платних клієнтів. Інвестор запитає про розрахунок знизу. Наступний крок: кількість салонів у першій країні, досяжність каналів і готовність платити.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Базова модель передбачає безкоштовний рівень до двадцяти операцій на місяць і три платні тарифи. Starter коштує п’ятнадцять доларів, Pro тридцять п’ять, Business починається від шістдесяти доларів щомісяця. Цільовий середній дохід від платного клієнта становить близько двадцяти п’яти доларів. Конверсія з безкоштовного рівня у платний задана як гіпотеза три-п’ять відсотків. Додаткові джерела доходу включають комісії з платежів, продаж галузевих шаблонів та рішення під брендом бухгалтерських агенцій. Їх не включено до базового прогнозу. Інвестор запитає про валову маржу. Для відповіді потрібні фактичні витрати на моделі, підтримку, інфраструктуру та обробку платежів.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Порівняння показує основний фокус продуктів, а не результати незалежного тестування зручності. QuickBooks уже пропонує AI-агентів, а HubSpot має розмовного асистента Breeze, тому твердження про відсутність у них AI було б некоректним. Wave поєднує облік із рахунками та оплатами. Booksy має календар, платежі й фінансові звіти. Гіпотеза Помічника полягає в простішому спільному сценарії для мікробізнесу, яку потрібно підтвердити порівняльними тестами. Інвестор запитає про захист від копіювання. Ми робимо ставку на галузеві процеси та якість щоденного досвіду, а не лише на доступ до моделі. Джерела перевірено 15.10.2026: https://www.intuit.com/intuitassist/ https://www.waveapps.com/invoicing https://www.hubspot.com/products/artificial-intelligence/breeze-ai-assistant https://biz.booksy.com/features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Перші шість-дев’ять місяців зосереджуємося на салонах краси та незалежних майстрах в Україні. Це дасть змогу повторно використовувати типові сценарії запису, оплати й витрат на матеріали. Починаємо з інтерв’ю та партнерств із галузевими спільнотами. Контент має показувати перевірені приклади економії часу, щойно такі результати з’являться. Реферальну програму запускаємо після підтвердження регулярного використання. Instagram і Facebook використовуємо для невеликих тестів залучення, а SEO для запитів на кшталт «облік для перукарні». Інвестор запитає про вартість клієнта. Кожен канал матиме окремий облік витрат, активації, переходу на оплату та утримання. Масштабування залежатиме від цих даних.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Дорожня карта починається з місяця старту проєкту, а не з конкретного календарного місяця. У перші два місяці плануємо щонайменше п’ятнадцять інтерв’ю та перевірку прототипу. Місяці три-п’ять відводимо на першу версію. На шостому-сьомому місяці запланована закрита бета з тридцятьма-п’ятдесятьма користувачами, а на восьмому публічний запуск. Ціль до кінця року становить вісімсот-тисячу двісті платних клієнтів. Жоден із цих етапів не позначає вже досягнутого результату. Інвестор запитає про критерії переходу між етапами. До масштабування потрібно підтвердити повторне використання, якість виконання завдань, готовність платити та прийнятну вартість залучення клієнта.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Графік використовує середини заданих діапазонів: чотириста, чотири тисячі, одинадцять з половиною тисяч і двадцять п’ять тисяч доларів місячної повторюваної виручки. Це прогнозний сценарій, а не фактична динаміка. За доходу двадцять п’ять доларів від клієнта остання точка означає тисячу платних користувачів. Водночас чотири тисячі на шостому місяці потребують ста шістдесяти платних клієнтів, що перевищує заплановану бету. Ранні надходження вимагатимуть окремих платних пілотів або зміни графіка. Інвестор запитає про узгодженість плану. Прогноз потрібно переглянути після інтерв’ю. Беззбитковість на чотирнадцятому-шістнадцятому місяці лишається гіпотезою без підтвердженого бюджету витрат.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Запит на початковий раунд становить від ста п’ятдесяти до двохсот п’ятдесяти тисяч доларів. Для прозорого розподілу показано сценарій на двісті тисяч: дев’яносто тисяч на розробку, п’ятнадцять на моделі, тридцять на маркетинг, десять на юридичні й адміністративні витрати та п’ятдесят п’ять тисяч резерву. Усі суми лежать у заданих діапазонах і разом становлять двісті тисяч. Резерв на шість місяців відповідає приблизно дев’яти тисячам двомстам доларів щомісячних витрат і не гарантує загальний строк фінансування. Засновник має заповнити імена, зайнятість та релевантний досвід команди. Інвестор запитає, яких перевірених результатів вистачить для наступного раунду. Мету використання коштів потрібно прив’язати до якості продукту та платного попиту.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Найважливіші ризики стосуються довіри, локальних податкових правил, конкуренції та вартості залучення. Для фінансових дій потрібні прозора історія, ручне підтвердження і можливість виправлення. Локалізацію починаємо з однієї країни, а податкові сценарії перевіряємо з фахівцем. Великі постачальники вже додають AI, тому перевагу слід шукати в якості конкретних галузевих процесів. Вартість залучення контролюємо малими тестами каналів до збільшення бюджету. Інвестор може запитати, який ризик зупинить проєкт. Критичними будуть відсутність повторного використання, неприйнятна частота помилок або неможливість окупити залучення. Потрібно заздалегідь погодити пороги цих показників і план дій при відхиленні.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Ця сторінка відокремлює задані цілі від показників, які ще треба виміряти. Середній дохід двадцять п’ять доларів і конверсія три-п’ять відсотків походять з вихідного опису. Вартість залучення, валова маржа, відтік та окупність поки не мають підтверджених значень. За сталої конверсії для тисячі платних клієнтів знадобиться приблизно двадцять-тридцять три тисячі безкоштовних користувачів, якщо не враховувати відтік і прямі платні продажі. Це спрощена перевірка масштабу воронки. Інвестор запитає про довічну цінність клієнта. Її не варто заявляти без даних утримання. Після бети необхідно побудувати когортну модель з витратами на моделі, підтримку та інфраструктуру.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7aa50a412694f2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1a99d2ce02e4f6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d1e1b8705ec44b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c9a42d844364b4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aca73a7179e42a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a6a366d6fa94fc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05c1df33cf7546f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a08cf0d15b0b427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182ab25d35da440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271AFF-4785-437D-B4B7-6C5EF283473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FAFD06F-F796-473A-8216-6195BD86E4B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CDE5ED7-F045-4536-BDC7-CD71184A57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FEC35C-252A-412C-85D2-9576AE2A1D8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0CF4518-27BF-46F8-9194-81AD97225FF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10616AA-6512-4C71-8F10-ABBE37D9CEB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D5A46B8-0A80-4C07-8A60-B31CD8E23EB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1CF9D01-E2B8-46BE-A143-EFC380B5B11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F0676F-13C0-4621-B7C2-E0C2C6F86FC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CCBF749-A2C2-486C-91A3-3303319AF03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Теза">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540B2EA6-C01F-4C67-9370-6F3C9A7F4069}"/>
              </a:ext>
            </a:extLst>
          </p:cNvPr>
          <p:cNvSpPr>
            <a:spLocks xmlns:a="http://schemas.openxmlformats.org/drawingml/2006/main" noGrp="1"/>
          </p:cNvSpPr>
          <p:nvPr>
            <p:ph type="title" idx="0"/>
          </p:nvPr>
        </p:nvSpPr>
        <p:spPr>
          <a:xfrm xmlns:a="http://schemas.openxmlformats.org/drawingml/2006/main">
            <a:off x="609600" y="514350"/>
            <a:ext cx="10972800" cy="112395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sldLayout>
</file>

<file path=ppt/slideLayouts/slideLayout8.xml><?xml version="1.0" encoding="utf-8"?>
<p:sldLayout xmlns:p="http://schemas.openxmlformats.org/presentationml/2006/main">
  <p:cSld name="Дані">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5CF9EC5F-2BEF-48A1-AD46-9098AAB4446A}"/>
              </a:ext>
            </a:extLst>
          </p:cNvPr>
          <p:cNvSpPr>
            <a:spLocks xmlns:a="http://schemas.openxmlformats.org/drawingml/2006/main" noGrp="1"/>
          </p:cNvSpPr>
          <p:nvPr>
            <p:ph type="title" idx="0"/>
          </p:nvPr>
        </p:nvSpPr>
        <p:spPr>
          <a:xfrm xmlns:a="http://schemas.openxmlformats.org/drawingml/2006/main">
            <a:off x="609600" y="514350"/>
            <a:ext cx="10972800" cy="112395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sldLayout>
</file>

<file path=ppt/slideLayouts/slideLayout9.xml><?xml version="1.0" encoding="utf-8"?>
<p:sldLayout xmlns:p="http://schemas.openxmlformats.org/presentationml/2006/main">
  <p:cSld name="Обкладинка">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1320D522-1228-4125-805A-D045D4BFD2B1}"/>
              </a:ext>
            </a:extLst>
          </p:cNvPr>
          <p:cNvSpPr>
            <a:spLocks xmlns:a="http://schemas.openxmlformats.org/drawingml/2006/main" noGrp="1"/>
          </p:cNvSpPr>
          <p:nvPr>
            <p:ph type="title" idx="0"/>
          </p:nvPr>
        </p:nvSpPr>
        <p:spPr>
          <a:xfrm xmlns:a="http://schemas.openxmlformats.org/drawingml/2006/main">
            <a:off x="609600" y="514350"/>
            <a:ext cx="10972800" cy="112395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a0ca318a584382" /><Relationship Type="http://schemas.openxmlformats.org/officeDocument/2006/relationships/slideLayout" Target="/ppt/slideLayouts/slideLayout1.xml" Id="R7874e7e14b5345aa" /><Relationship Type="http://schemas.openxmlformats.org/officeDocument/2006/relationships/slideLayout" Target="/ppt/slideLayouts/slideLayout2.xml" Id="R2567b348df1a49d2" /><Relationship Type="http://schemas.openxmlformats.org/officeDocument/2006/relationships/slideLayout" Target="/ppt/slideLayouts/slideLayout3.xml" Id="R9fc643e5c3d34529" /><Relationship Type="http://schemas.openxmlformats.org/officeDocument/2006/relationships/slideLayout" Target="/ppt/slideLayouts/slideLayout4.xml" Id="R30e379cd25964b31" /><Relationship Type="http://schemas.openxmlformats.org/officeDocument/2006/relationships/slideLayout" Target="/ppt/slideLayouts/slideLayout5.xml" Id="R284a99d511df4a21" /><Relationship Type="http://schemas.openxmlformats.org/officeDocument/2006/relationships/slideLayout" Target="/ppt/slideLayouts/slideLayout6.xml" Id="R055d84a6a3d24707"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72aaf166434a446e" /><Relationship Type="http://schemas.openxmlformats.org/officeDocument/2006/relationships/slideLayout" Target="/ppt/slideLayouts/slideLayout7.xml" Id="Rfb1232318cdc4337" /><Relationship Type="http://schemas.openxmlformats.org/officeDocument/2006/relationships/slideLayout" Target="/ppt/slideLayouts/slideLayout8.xml" Id="R6cb1e38973f04efc" /><Relationship Type="http://schemas.openxmlformats.org/officeDocument/2006/relationships/slideLayout" Target="/ppt/slideLayouts/slideLayout9.xml" Id="R8cfe08c9a2c74b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74e7e14b5345aa"/>
    <p:sldLayoutId xmlns:r="http://schemas.openxmlformats.org/officeDocument/2006/relationships" id="2147483650" r:id="R2567b348df1a49d2"/>
    <p:sldLayoutId xmlns:r="http://schemas.openxmlformats.org/officeDocument/2006/relationships" id="2147483651" r:id="R9fc643e5c3d34529"/>
    <p:sldLayoutId xmlns:r="http://schemas.openxmlformats.org/officeDocument/2006/relationships" id="2147483652" r:id="R30e379cd25964b31"/>
    <p:sldLayoutId xmlns:r="http://schemas.openxmlformats.org/officeDocument/2006/relationships" id="2147483653" r:id="R284a99d511df4a21"/>
    <p:sldLayoutId xmlns:r="http://schemas.openxmlformats.org/officeDocument/2006/relationships" id="2147483654" r:id="R055d84a6a3d247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Помічник">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fb1232318cdc4337"/>
    <p:sldLayoutId xmlns:r="http://schemas.openxmlformats.org/officeDocument/2006/relationships" id="2147483657" r:id="R6cb1e38973f04efc"/>
    <p:sldLayoutId xmlns:r="http://schemas.openxmlformats.org/officeDocument/2006/relationships" id="2147483658" r:id="R8cfe08c9a2c74bff"/>
  </p:sldLayoutIdLst>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9.xml" Id="R5bb786f5f1bd43e8" /><Relationship Type="http://schemas.openxmlformats.org/officeDocument/2006/relationships/notesSlide" Target="/ppt/notesSlides/notesSlide1.xml" Id="R85f75f3106a54bd3"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f7badca63b4149ba" /><Relationship Type="http://schemas.openxmlformats.org/officeDocument/2006/relationships/notesSlide" Target="/ppt/notesSlides/notesSlide2.xml" Id="R6493a60d0d5740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1c061b0566834462" /><Relationship Type="http://schemas.openxmlformats.org/officeDocument/2006/relationships/notesSlide" Target="/ppt/notesSlides/notesSlide3.xml" Id="Rd40e9635f57742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b22e8805d8f5403c" /><Relationship Type="http://schemas.openxmlformats.org/officeDocument/2006/relationships/notesSlide" Target="/ppt/notesSlides/notesSlide4.xml" Id="R5b0248b305b54c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4d669e64d7604e6a" /><Relationship Type="http://schemas.openxmlformats.org/officeDocument/2006/relationships/notesSlide" Target="/ppt/notesSlides/notesSlide5.xml" Id="R4de1bf3df1ad4e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8.xml" Id="R9bb8f8d5966c475f" /><Relationship Type="http://schemas.openxmlformats.org/officeDocument/2006/relationships/notesSlide" Target="/ppt/notesSlides/notesSlide6.xml" Id="R0868a56acfd2427a" /></Relationships>
</file>

<file path=ppt/slides/_rels/slide7.xml.rels>&#65279;<?xml version="1.0" encoding="utf-8"?><Relationships xmlns="http://schemas.openxmlformats.org/package/2006/relationships"><Relationship Type="http://schemas.openxmlformats.org/officeDocument/2006/relationships/slideLayout" Target="/ppt/slideLayouts/slideLayout8.xml" Id="Rdf3a23538b5a4527" /><Relationship Type="http://schemas.openxmlformats.org/officeDocument/2006/relationships/notesSlide" Target="/ppt/notesSlides/notesSlide7.xml" Id="Rd8405b71a02546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8.xml" Id="R8d9b9b47f9f3449c" /><Relationship Type="http://schemas.openxmlformats.org/officeDocument/2006/relationships/notesSlide" Target="/ppt/notesSlides/notesSlide8.xml" Id="R32d5fc8e3b7f4315"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2d95939b49d044a8" /><Relationship Type="http://schemas.openxmlformats.org/officeDocument/2006/relationships/notesSlide" Target="/ppt/notesSlides/notesSlide9.xml" Id="R0e8ec7afd7634b1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baf4b0e3c96143ba" /><Relationship Type="http://schemas.openxmlformats.org/officeDocument/2006/relationships/notesSlide" Target="/ppt/notesSlides/notesSlide10.xml" Id="R51a43041a5f14d8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8.xml" Id="R680b97dbc8064315" /><Relationship Type="http://schemas.openxmlformats.org/officeDocument/2006/relationships/chart" Target="/ppt/slides/charts/chart1.xml" Id="R8820df4e5ed04f7b" /><Relationship Type="http://schemas.openxmlformats.org/officeDocument/2006/relationships/notesSlide" Target="/ppt/notesSlides/notesSlide11.xml" Id="Rc26e78f8396c443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8.xml" Id="R7c01c758ac134b70" /><Relationship Type="http://schemas.openxmlformats.org/officeDocument/2006/relationships/chart" Target="/ppt/slides/charts/chart2.xml" Id="R65ef947266df4da8" /><Relationship Type="http://schemas.openxmlformats.org/officeDocument/2006/relationships/notesSlide" Target="/ppt/notesSlides/notesSlide12.xml" Id="R4074d5d402714ee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8.xml" Id="R309dc4d1b0b849ac" /><Relationship Type="http://schemas.openxmlformats.org/officeDocument/2006/relationships/notesSlide" Target="/ppt/notesSlides/notesSlide13.xml" Id="Ra2ad9a071380426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8.xml" Id="R499af11d1761462d" /><Relationship Type="http://schemas.openxmlformats.org/officeDocument/2006/relationships/notesSlide" Target="/ppt/notesSlides/notesSlide14.xml" Id="R38dfcde77086437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Прогноз MRR, тис. USD</c:v>
          </c:tx>
          <c:spPr>
            <a:ln xmlns:a="http://schemas.openxmlformats.org/drawingml/2006/main" w="38100">
              <a:solidFill>
                <a:srgbClr val="285B43"/>
              </a:solidFill>
            </a:ln>
          </c:spPr>
          <c:marker>
            <c:symbol val="circle"/>
            <c:size val="10"/>
            <c:spPr>
              <a:solidFill xmlns:a="http://schemas.openxmlformats.org/drawingml/2006/main">
                <a:srgbClr val="285B43"/>
              </a:solidFill>
            </c:spPr>
          </c:marker>
          <c:cat>
            <c:strRef>
              <c:f>'Chart Data'!$A$2:$A$5</c:f>
              <c:strCache>
                <c:ptCount val="4"/>
                <c:pt idx="0">
                  <c:v>М3</c:v>
                </c:pt>
                <c:pt idx="1">
                  <c:v>М6</c:v>
                </c:pt>
                <c:pt idx="2">
                  <c:v>М9</c:v>
                </c:pt>
                <c:pt idx="3">
                  <c:v>М12</c:v>
                </c:pt>
              </c:strCache>
            </c:strRef>
          </c:cat>
          <c:val>
            <c:numRef>
              <c:f>'Chart Data'!$B$2:$B$5</c:f>
              <c:numCache>
                <c:formatCode>0</c:formatCode>
                <c:ptCount val="4"/>
                <c:pt idx="0">
                  <c:v>0.4</c:v>
                </c:pt>
                <c:pt idx="1">
                  <c:v>4</c:v>
                </c:pt>
                <c:pt idx="2">
                  <c:v>11.5</c:v>
                </c:pt>
                <c:pt idx="3">
                  <c:v>25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00" b="1">
                  <a:solidFill>
                    <a:srgbClr val="285B43"/>
                  </a:solidFill>
                  <a:latin typeface="Arial"/>
                  <a:ea typeface="Arial"/>
                  <a:cs typeface="Arial"/>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203E30"/>
                </a:solidFill>
                <a:latin typeface="Arial"/>
                <a:ea typeface="Arial"/>
                <a:cs typeface="Arial"/>
              </a:defRPr>
            </a:pPr>
          </a:p>
        </c:txPr>
        <c:crossAx val="48672768"/>
      </c:catAx>
      <c:valAx>
        <c:axId val="48672768"/>
        <c:scaling>
          <c:orientation val="minMax"/>
          <c:max val="30"/>
          <c:min val="0"/>
        </c:scaling>
        <c:delete val="0"/>
        <c:axPos val="l"/>
        <c:majorGridlines>
          <c:spPr>
            <a:ln xmlns:a="http://schemas.openxmlformats.org/drawingml/2006/main" w="9525">
              <a:solidFill>
                <a:srgbClr val="CED8C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57266"/>
                </a:solidFill>
                <a:latin typeface="Arial"/>
                <a:ea typeface="Arial"/>
                <a:cs typeface="Arial"/>
              </a:defRPr>
            </a:pPr>
          </a:p>
        </c:txPr>
        <c:crossAx val="48650112"/>
        <c:crossBetween val="between"/>
        <c:majorUnit val="10"/>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тис. USD</c:v>
          </c:tx>
          <c:spPr>
            <a:solidFill xmlns:a="http://schemas.openxmlformats.org/drawingml/2006/main">
              <a:srgbClr val="285B43"/>
            </a:solidFill>
          </c:spPr>
          <c:invertIfNegative val="0"/>
          <c:cat>
            <c:strRef>
              <c:f>'Chart Data'!$A$2:$A$6</c:f>
              <c:strCache>
                <c:ptCount val="5"/>
                <c:pt idx="0">
                  <c:v>MVP</c:v>
                </c:pt>
                <c:pt idx="1">
                  <c:v>AI</c:v>
                </c:pt>
                <c:pt idx="2">
                  <c:v>Маркетинг</c:v>
                </c:pt>
                <c:pt idx="3">
                  <c:v>Адміністрування</c:v>
                </c:pt>
                <c:pt idx="4">
                  <c:v>Резерв</c:v>
                </c:pt>
              </c:strCache>
            </c:strRef>
          </c:cat>
          <c:val>
            <c:numRef>
              <c:f>'Chart Data'!$B$2:$B$6</c:f>
              <c:numCache>
                <c:formatCode>General</c:formatCode>
                <c:ptCount val="5"/>
                <c:pt idx="0">
                  <c:v>90</c:v>
                </c:pt>
                <c:pt idx="1">
                  <c:v>15</c:v>
                </c:pt>
                <c:pt idx="2">
                  <c:v>30</c:v>
                </c:pt>
                <c:pt idx="3">
                  <c:v>10</c:v>
                </c:pt>
                <c:pt idx="4">
                  <c:v>55</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285B43"/>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203E30"/>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85B43"/>
        </a:solidFill>
      </p:bgPr>
    </p:bg>
    <p:spTree>
      <p:nvGrpSpPr>
        <p:cNvPr id="1" name=""/>
        <p:cNvGrpSpPr/>
        <p:nvPr/>
      </p:nvGrpSpPr>
      <p:grpSpPr>
        <a:xfrm xmlns:a="http://schemas.openxmlformats.org/drawingml/2006/main"/>
      </p:grpSpPr>
      <p:sp>
        <p:nvSpPr>
          <p:cNvPr id="8" name="placeholder_1">
            <a:extLst xmlns:a="http://schemas.openxmlformats.org/drawingml/2006/main">
              <a:ext uri="{FF2B5EF4-FFF2-40B4-BE49-F238E27FC236}">
                <a16:creationId xmlns:a16="http://schemas.microsoft.com/office/drawing/2014/main" id="{1320D522-1228-4125-805A-D045D4BFD2B1}"/>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FFFFFF"/>
                </a:solidFill>
                <a:latin typeface="Calibri"/>
                <a:ea typeface="Calibri"/>
                <a:cs typeface="Calibri"/>
              </a:defRPr>
            </a:defPPr>
          </a:lstStyle>
          <a:p xmlns:a="http://schemas.openxmlformats.org/drawingml/2006/main">
            <a:pPr>
              <a:defRPr sz="3450" b="1">
                <a:solidFill>
                  <a:srgbClr val="FFFFFF"/>
                </a:solidFill>
                <a:latin typeface="Calibri"/>
                <a:ea typeface="Calibri"/>
                <a:cs typeface="Calibri"/>
              </a:defRPr>
            </a:pPr>
            <a:r>
              <a:rPr sz="3450" b="1">
                <a:solidFill>
                  <a:srgbClr val="FFFFFF"/>
                </a:solidFill>
                <a:latin typeface="Calibri"/>
                <a:ea typeface="Calibri"/>
                <a:cs typeface="Calibri"/>
              </a:rPr>
              <a:t>Помічник об’єднує щоденні справи в одній розмові</a:t>
            </a:r>
          </a:p>
        </p:txBody>
      </p:sp>
      <p:sp>
        <p:nvSpPr>
          <p:cNvPr id="2" name="">
            <a:extLst xmlns:a="http://schemas.openxmlformats.org/drawingml/2006/main">
              <a:ext uri="{FF2B5EF4-FFF2-40B4-BE49-F238E27FC236}">
                <a16:creationId xmlns:a16="http://schemas.microsoft.com/office/drawing/2014/main" id="{F91A0D29-D689-4591-8B85-9B2009351CE2}"/>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D5E998"/>
                </a:solidFill>
                <a:latin typeface="Calibri"/>
                <a:ea typeface="Calibri"/>
                <a:cs typeface="Calibri"/>
              </a:defRPr>
            </a:defPPr>
          </a:lstStyle>
          <a:p xmlns:a="http://schemas.openxmlformats.org/drawingml/2006/main">
            <a:pPr>
              <a:defRPr sz="1350" b="1">
                <a:solidFill>
                  <a:srgbClr val="D5E998"/>
                </a:solidFill>
                <a:latin typeface="Calibri"/>
                <a:ea typeface="Calibri"/>
                <a:cs typeface="Calibri"/>
              </a:defRPr>
            </a:pPr>
            <a:r>
              <a:rPr sz="1350" b="1">
                <a:solidFill>
                  <a:srgbClr val="D5E998"/>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82EB9307-CABD-41F6-8368-04BEE1DE731A}"/>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D5E998"/>
                </a:solidFill>
                <a:latin typeface="Arial"/>
                <a:ea typeface="Arial"/>
                <a:cs typeface="Arial"/>
              </a:defRPr>
            </a:defPPr>
          </a:lstStyle>
          <a:p xmlns:a="http://schemas.openxmlformats.org/drawingml/2006/main">
            <a:pPr>
              <a:defRPr sz="1350" b="0">
                <a:solidFill>
                  <a:srgbClr val="D5E998"/>
                </a:solidFill>
                <a:latin typeface="Arial"/>
                <a:ea typeface="Arial"/>
                <a:cs typeface="Arial"/>
              </a:defRPr>
            </a:pPr>
            <a:r>
              <a:rPr sz="1350" b="0">
                <a:solidFill>
                  <a:srgbClr val="D5E99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F1557850-F26B-4C25-9AB7-51CF7AE96A4E}"/>
              </a:ext>
            </a:extLst>
          </p:cNvPr>
          <p:cNvSpPr>
            <a:spLocks xmlns:a="http://schemas.openxmlformats.org/drawingml/2006/main" noGrp="1"/>
          </p:cNvSpPr>
          <p:nvPr/>
        </p:nvSpPr>
        <p:spPr>
          <a:xfrm xmlns:a="http://schemas.openxmlformats.org/drawingml/2006/main">
            <a:off x="609600" y="2152650"/>
            <a:ext cx="1047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8100" b="1">
                <a:solidFill>
                  <a:srgbClr val="FFFFFF"/>
                </a:solidFill>
                <a:latin typeface="Calibri"/>
                <a:ea typeface="Calibri"/>
                <a:cs typeface="Calibri"/>
              </a:defRPr>
            </a:defPPr>
          </a:lstStyle>
          <a:p xmlns:a="http://schemas.openxmlformats.org/drawingml/2006/main">
            <a:pPr>
              <a:defRPr sz="8100" b="1">
                <a:solidFill>
                  <a:srgbClr val="FFFFFF"/>
                </a:solidFill>
                <a:latin typeface="Calibri"/>
                <a:ea typeface="Calibri"/>
                <a:cs typeface="Calibri"/>
              </a:defRPr>
            </a:pPr>
            <a:r>
              <a:rPr sz="8100" b="1">
                <a:solidFill>
                  <a:srgbClr val="FFFFFF"/>
                </a:solidFill>
                <a:latin typeface="Calibri"/>
                <a:ea typeface="Calibri"/>
                <a:cs typeface="Calibri"/>
              </a:rPr>
              <a:t>Помічник.</a:t>
            </a:r>
          </a:p>
        </p:txBody>
      </p:sp>
      <p:sp>
        <p:nvSpPr>
          <p:cNvPr id="5" name="">
            <a:extLst xmlns:a="http://schemas.openxmlformats.org/drawingml/2006/main">
              <a:ext uri="{FF2B5EF4-FFF2-40B4-BE49-F238E27FC236}">
                <a16:creationId xmlns:a16="http://schemas.microsoft.com/office/drawing/2014/main" id="{BD63DBC3-55D0-432C-86DD-5DC1ED247A46}"/>
              </a:ext>
            </a:extLst>
          </p:cNvPr>
          <p:cNvSpPr>
            <a:spLocks xmlns:a="http://schemas.openxmlformats.org/drawingml/2006/main" noGrp="1"/>
          </p:cNvSpPr>
          <p:nvPr/>
        </p:nvSpPr>
        <p:spPr>
          <a:xfrm xmlns:a="http://schemas.openxmlformats.org/drawingml/2006/main">
            <a:off x="666750" y="3714750"/>
            <a:ext cx="990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0">
                <a:solidFill>
                  <a:srgbClr val="D5E998"/>
                </a:solidFill>
                <a:latin typeface="Arial"/>
                <a:ea typeface="Arial"/>
                <a:cs typeface="Arial"/>
              </a:defRPr>
            </a:defPPr>
          </a:lstStyle>
          <a:p xmlns:a="http://schemas.openxmlformats.org/drawingml/2006/main">
            <a:pPr>
              <a:defRPr sz="2550" b="0">
                <a:solidFill>
                  <a:srgbClr val="D5E998"/>
                </a:solidFill>
                <a:latin typeface="Arial"/>
                <a:ea typeface="Arial"/>
                <a:cs typeface="Arial"/>
              </a:defRPr>
            </a:pPr>
            <a:r>
              <a:rPr sz="2550" b="0">
                <a:solidFill>
                  <a:srgbClr val="D5E998"/>
                </a:solidFill>
                <a:latin typeface="Arial"/>
                <a:ea typeface="Arial"/>
                <a:cs typeface="Arial"/>
              </a:rPr>
              <a:t>Облік, клієнти й записи для малого бізнесу</a:t>
            </a:r>
          </a:p>
        </p:txBody>
      </p:sp>
      <p:sp>
        <p:nvSpPr>
          <p:cNvPr id="6" name="">
            <a:extLst xmlns:a="http://schemas.openxmlformats.org/drawingml/2006/main">
              <a:ext uri="{FF2B5EF4-FFF2-40B4-BE49-F238E27FC236}">
                <a16:creationId xmlns:a16="http://schemas.microsoft.com/office/drawing/2014/main" id="{B3257221-6CC4-4162-B40E-3E1A3E30BF0C}"/>
              </a:ext>
            </a:extLst>
          </p:cNvPr>
          <p:cNvSpPr>
            <a:spLocks xmlns:a="http://schemas.openxmlformats.org/drawingml/2006/main" noGrp="1"/>
          </p:cNvSpPr>
          <p:nvPr/>
        </p:nvSpPr>
        <p:spPr>
          <a:xfrm xmlns:a="http://schemas.openxmlformats.org/drawingml/2006/main">
            <a:off x="666750" y="5076825"/>
            <a:ext cx="704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FFFFF"/>
                </a:solidFill>
                <a:latin typeface="Arial"/>
                <a:ea typeface="Arial"/>
                <a:cs typeface="Arial"/>
              </a:defRPr>
            </a:defPPr>
          </a:lstStyle>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[Ім’я Прізвище], засновник</a:t>
            </a:r>
          </a:p>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[Email]</a:t>
            </a:r>
          </a:p>
        </p:txBody>
      </p:sp>
      <p:sp>
        <p:nvSpPr>
          <p:cNvPr id="7" name="">
            <a:extLst xmlns:a="http://schemas.openxmlformats.org/drawingml/2006/main">
              <a:ext uri="{FF2B5EF4-FFF2-40B4-BE49-F238E27FC236}">
                <a16:creationId xmlns:a16="http://schemas.microsoft.com/office/drawing/2014/main" id="{3269399D-BD54-4891-A5AB-CCA116CCBE7C}"/>
              </a:ext>
            </a:extLst>
          </p:cNvPr>
          <p:cNvSpPr>
            <a:spLocks xmlns:a="http://schemas.openxmlformats.org/drawingml/2006/main" noGrp="1"/>
          </p:cNvSpPr>
          <p:nvPr/>
        </p:nvSpPr>
        <p:spPr>
          <a:xfrm xmlns:a="http://schemas.openxmlformats.org/drawingml/2006/main">
            <a:off x="8610600" y="5334000"/>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FFFFF"/>
                </a:solidFill>
                <a:latin typeface="Arial"/>
                <a:ea typeface="Arial"/>
                <a:cs typeface="Arial"/>
              </a:defRPr>
            </a:defPPr>
          </a:lstStyle>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15 жовтня 2026</a:t>
            </a:r>
          </a:p>
        </p:txBody>
      </p:sp>
    </p:spTree>
    <p:extLst>
      <p:ext uri="{BB962C8B-B14F-4D97-AF65-F5344CB8AC3E}">
        <p14:creationId xmlns:p14="http://schemas.microsoft.com/office/powerpoint/2010/main" val="1122020820"/>
      </p:ext>
    </p:extLst>
  </p:cSld>
</p:sld>
</file>

<file path=ppt/slides/slide2.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3" name="placeholder_1">
            <a:extLst xmlns:a="http://schemas.openxmlformats.org/drawingml/2006/main">
              <a:ext uri="{FF2B5EF4-FFF2-40B4-BE49-F238E27FC236}">
                <a16:creationId xmlns:a16="http://schemas.microsoft.com/office/drawing/2014/main" id="{540B2EA6-C01F-4C67-9370-6F3C9A7F4069}"/>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Рутина забирає час, який власник міг би віддати клієнтам</a:t>
            </a:r>
          </a:p>
        </p:txBody>
      </p:sp>
      <p:sp>
        <p:nvSpPr>
          <p:cNvPr id="2" name="">
            <a:extLst xmlns:a="http://schemas.openxmlformats.org/drawingml/2006/main">
              <a:ext uri="{FF2B5EF4-FFF2-40B4-BE49-F238E27FC236}">
                <a16:creationId xmlns:a16="http://schemas.microsoft.com/office/drawing/2014/main" id="{709561A7-D969-4CE9-846B-D0C2813010CE}"/>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9FFED72A-64B9-455B-9DD4-A5185D84F9A0}"/>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8DE0EC09-DB34-4EA9-B326-AC66AB1A07AC}"/>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5–10 годин: вихідна гіпотеза, потребує перевірки</a:t>
            </a:r>
          </a:p>
        </p:txBody>
      </p:sp>
      <p:sp>
        <p:nvSpPr>
          <p:cNvPr id="5" name="">
            <a:extLst xmlns:a="http://schemas.openxmlformats.org/drawingml/2006/main">
              <a:ext uri="{FF2B5EF4-FFF2-40B4-BE49-F238E27FC236}">
                <a16:creationId xmlns:a16="http://schemas.microsoft.com/office/drawing/2014/main" id="{5EB530BA-6274-420E-84C4-26F9BE2DDD16}"/>
              </a:ext>
            </a:extLst>
          </p:cNvPr>
          <p:cNvSpPr>
            <a:spLocks xmlns:a="http://schemas.openxmlformats.org/drawingml/2006/main" noGrp="1"/>
          </p:cNvSpPr>
          <p:nvPr/>
        </p:nvSpPr>
        <p:spPr>
          <a:xfrm xmlns:a="http://schemas.openxmlformats.org/drawingml/2006/main">
            <a:off x="609600" y="2000250"/>
            <a:ext cx="5715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0800" b="1">
                <a:solidFill>
                  <a:srgbClr val="285B43"/>
                </a:solidFill>
                <a:latin typeface="Calibri"/>
                <a:ea typeface="Calibri"/>
                <a:cs typeface="Calibri"/>
              </a:defRPr>
            </a:defPPr>
          </a:lstStyle>
          <a:p xmlns:a="http://schemas.openxmlformats.org/drawingml/2006/main">
            <a:pPr>
              <a:defRPr sz="10800" b="1">
                <a:solidFill>
                  <a:srgbClr val="285B43"/>
                </a:solidFill>
                <a:latin typeface="Calibri"/>
                <a:ea typeface="Calibri"/>
                <a:cs typeface="Calibri"/>
              </a:defRPr>
            </a:pPr>
            <a:r>
              <a:rPr sz="10800" b="1">
                <a:solidFill>
                  <a:srgbClr val="285B43"/>
                </a:solidFill>
                <a:latin typeface="Calibri"/>
                <a:ea typeface="Calibri"/>
                <a:cs typeface="Calibri"/>
              </a:rPr>
              <a:t>5–10</a:t>
            </a:r>
          </a:p>
        </p:txBody>
      </p:sp>
      <p:sp>
        <p:nvSpPr>
          <p:cNvPr id="6" name="">
            <a:extLst xmlns:a="http://schemas.openxmlformats.org/drawingml/2006/main">
              <a:ext uri="{FF2B5EF4-FFF2-40B4-BE49-F238E27FC236}">
                <a16:creationId xmlns:a16="http://schemas.microsoft.com/office/drawing/2014/main" id="{D01429CD-5F41-46B0-92FA-95799337B94F}"/>
              </a:ext>
            </a:extLst>
          </p:cNvPr>
          <p:cNvSpPr>
            <a:spLocks xmlns:a="http://schemas.openxmlformats.org/drawingml/2006/main" noGrp="1"/>
          </p:cNvSpPr>
          <p:nvPr/>
        </p:nvSpPr>
        <p:spPr>
          <a:xfrm xmlns:a="http://schemas.openxmlformats.org/drawingml/2006/main">
            <a:off x="704850" y="3619500"/>
            <a:ext cx="542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850" b="0">
                <a:solidFill>
                  <a:srgbClr val="203E30"/>
                </a:solidFill>
                <a:latin typeface="Arial"/>
                <a:ea typeface="Arial"/>
                <a:cs typeface="Arial"/>
              </a:defRPr>
            </a:defPPr>
          </a:lstStyle>
          <a:p xmlns:a="http://schemas.openxmlformats.org/drawingml/2006/main">
            <a:pPr>
              <a:defRPr sz="2850" b="0">
                <a:solidFill>
                  <a:srgbClr val="203E30"/>
                </a:solidFill>
                <a:latin typeface="Arial"/>
                <a:ea typeface="Arial"/>
                <a:cs typeface="Arial"/>
              </a:defRPr>
            </a:pPr>
            <a:r>
              <a:rPr sz="2850" b="0">
                <a:solidFill>
                  <a:srgbClr val="203E30"/>
                </a:solidFill>
                <a:latin typeface="Arial"/>
                <a:ea typeface="Arial"/>
                <a:cs typeface="Arial"/>
              </a:rPr>
              <a:t>годин щотижня</a:t>
            </a:r>
          </a:p>
        </p:txBody>
      </p:sp>
      <p:sp>
        <p:nvSpPr>
          <p:cNvPr id="7" name="">
            <a:extLst xmlns:a="http://schemas.openxmlformats.org/drawingml/2006/main">
              <a:ext uri="{FF2B5EF4-FFF2-40B4-BE49-F238E27FC236}">
                <a16:creationId xmlns:a16="http://schemas.microsoft.com/office/drawing/2014/main" id="{6037321F-013E-4B8E-9F5F-2518FA25A837}"/>
              </a:ext>
            </a:extLst>
          </p:cNvPr>
          <p:cNvSpPr>
            <a:spLocks xmlns:a="http://schemas.openxmlformats.org/drawingml/2006/main" noGrp="1"/>
          </p:cNvSpPr>
          <p:nvPr/>
        </p:nvSpPr>
        <p:spPr>
          <a:xfrm xmlns:a="http://schemas.openxmlformats.org/drawingml/2006/main">
            <a:off x="6905625" y="2381250"/>
            <a:ext cx="76200" cy="523875"/>
          </a:xfrm>
          <a:prstGeom xmlns:a="http://schemas.openxmlformats.org/drawingml/2006/main" prst="rect">
            <a:avLst/>
          </a:prstGeom>
          <a:solidFill xmlns:a="http://schemas.openxmlformats.org/drawingml/2006/main">
            <a:srgbClr val="285B4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7C4443F-99E8-4E0D-BE2E-60B543D53732}"/>
              </a:ext>
            </a:extLst>
          </p:cNvPr>
          <p:cNvSpPr>
            <a:spLocks xmlns:a="http://schemas.openxmlformats.org/drawingml/2006/main" noGrp="1"/>
          </p:cNvSpPr>
          <p:nvPr/>
        </p:nvSpPr>
        <p:spPr>
          <a:xfrm xmlns:a="http://schemas.openxmlformats.org/drawingml/2006/main">
            <a:off x="7219950" y="2381250"/>
            <a:ext cx="4238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203E30"/>
                </a:solidFill>
                <a:latin typeface="Arial"/>
                <a:ea typeface="Arial"/>
                <a:cs typeface="Arial"/>
              </a:defRPr>
            </a:defPPr>
          </a:lstStyle>
          <a:p xmlns:a="http://schemas.openxmlformats.org/drawingml/2006/main">
            <a:pPr>
              <a:defRPr sz="2250" b="0">
                <a:solidFill>
                  <a:srgbClr val="203E30"/>
                </a:solidFill>
                <a:latin typeface="Arial"/>
                <a:ea typeface="Arial"/>
                <a:cs typeface="Arial"/>
              </a:defRPr>
            </a:pPr>
            <a:r>
              <a:rPr sz="2250" b="0">
                <a:solidFill>
                  <a:srgbClr val="203E30"/>
                </a:solidFill>
                <a:latin typeface="Arial"/>
                <a:ea typeface="Arial"/>
                <a:cs typeface="Arial"/>
              </a:rPr>
              <a:t>Розрізнені інструменти</a:t>
            </a:r>
          </a:p>
        </p:txBody>
      </p:sp>
      <p:sp>
        <p:nvSpPr>
          <p:cNvPr id="9" name="">
            <a:extLst xmlns:a="http://schemas.openxmlformats.org/drawingml/2006/main">
              <a:ext uri="{FF2B5EF4-FFF2-40B4-BE49-F238E27FC236}">
                <a16:creationId xmlns:a16="http://schemas.microsoft.com/office/drawing/2014/main" id="{7A1AADB5-A630-4CB2-B6A5-76C33319BC20}"/>
              </a:ext>
            </a:extLst>
          </p:cNvPr>
          <p:cNvSpPr>
            <a:spLocks xmlns:a="http://schemas.openxmlformats.org/drawingml/2006/main" noGrp="1"/>
          </p:cNvSpPr>
          <p:nvPr/>
        </p:nvSpPr>
        <p:spPr>
          <a:xfrm xmlns:a="http://schemas.openxmlformats.org/drawingml/2006/main">
            <a:off x="6905625" y="3381375"/>
            <a:ext cx="76200" cy="523875"/>
          </a:xfrm>
          <a:prstGeom xmlns:a="http://schemas.openxmlformats.org/drawingml/2006/main" prst="rect">
            <a:avLst/>
          </a:prstGeom>
          <a:solidFill xmlns:a="http://schemas.openxmlformats.org/drawingml/2006/main">
            <a:srgbClr val="285B4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D6AE783-202F-43EC-B27D-2926B4F9AB16}"/>
              </a:ext>
            </a:extLst>
          </p:cNvPr>
          <p:cNvSpPr>
            <a:spLocks xmlns:a="http://schemas.openxmlformats.org/drawingml/2006/main" noGrp="1"/>
          </p:cNvSpPr>
          <p:nvPr/>
        </p:nvSpPr>
        <p:spPr>
          <a:xfrm xmlns:a="http://schemas.openxmlformats.org/drawingml/2006/main">
            <a:off x="7219950" y="3381375"/>
            <a:ext cx="4238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203E30"/>
                </a:solidFill>
                <a:latin typeface="Arial"/>
                <a:ea typeface="Arial"/>
                <a:cs typeface="Arial"/>
              </a:defRPr>
            </a:defPPr>
          </a:lstStyle>
          <a:p xmlns:a="http://schemas.openxmlformats.org/drawingml/2006/main">
            <a:pPr>
              <a:defRPr sz="2250" b="0">
                <a:solidFill>
                  <a:srgbClr val="203E30"/>
                </a:solidFill>
                <a:latin typeface="Arial"/>
                <a:ea typeface="Arial"/>
                <a:cs typeface="Arial"/>
              </a:defRPr>
            </a:pPr>
            <a:r>
              <a:rPr sz="2250" b="0">
                <a:solidFill>
                  <a:srgbClr val="203E30"/>
                </a:solidFill>
                <a:latin typeface="Arial"/>
                <a:ea typeface="Arial"/>
                <a:cs typeface="Arial"/>
              </a:rPr>
              <a:t>Пропущені записи</a:t>
            </a:r>
          </a:p>
        </p:txBody>
      </p:sp>
      <p:sp>
        <p:nvSpPr>
          <p:cNvPr id="11" name="">
            <a:extLst xmlns:a="http://schemas.openxmlformats.org/drawingml/2006/main">
              <a:ext uri="{FF2B5EF4-FFF2-40B4-BE49-F238E27FC236}">
                <a16:creationId xmlns:a16="http://schemas.microsoft.com/office/drawing/2014/main" id="{353AC9A2-F328-44D0-83BE-8BA5C5A7FF13}"/>
              </a:ext>
            </a:extLst>
          </p:cNvPr>
          <p:cNvSpPr>
            <a:spLocks xmlns:a="http://schemas.openxmlformats.org/drawingml/2006/main" noGrp="1"/>
          </p:cNvSpPr>
          <p:nvPr/>
        </p:nvSpPr>
        <p:spPr>
          <a:xfrm xmlns:a="http://schemas.openxmlformats.org/drawingml/2006/main">
            <a:off x="6905625" y="4381500"/>
            <a:ext cx="76200" cy="523875"/>
          </a:xfrm>
          <a:prstGeom xmlns:a="http://schemas.openxmlformats.org/drawingml/2006/main" prst="rect">
            <a:avLst/>
          </a:prstGeom>
          <a:solidFill xmlns:a="http://schemas.openxmlformats.org/drawingml/2006/main">
            <a:srgbClr val="285B4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DC333A6-0F01-4D4E-9466-41A39222F0A9}"/>
              </a:ext>
            </a:extLst>
          </p:cNvPr>
          <p:cNvSpPr>
            <a:spLocks xmlns:a="http://schemas.openxmlformats.org/drawingml/2006/main" noGrp="1"/>
          </p:cNvSpPr>
          <p:nvPr/>
        </p:nvSpPr>
        <p:spPr>
          <a:xfrm xmlns:a="http://schemas.openxmlformats.org/drawingml/2006/main">
            <a:off x="7219950" y="4381500"/>
            <a:ext cx="4238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203E30"/>
                </a:solidFill>
                <a:latin typeface="Arial"/>
                <a:ea typeface="Arial"/>
                <a:cs typeface="Arial"/>
              </a:defRPr>
            </a:defPPr>
          </a:lstStyle>
          <a:p xmlns:a="http://schemas.openxmlformats.org/drawingml/2006/main">
            <a:pPr>
              <a:defRPr sz="2250" b="0">
                <a:solidFill>
                  <a:srgbClr val="203E30"/>
                </a:solidFill>
                <a:latin typeface="Arial"/>
                <a:ea typeface="Arial"/>
                <a:cs typeface="Arial"/>
              </a:defRPr>
            </a:pPr>
            <a:r>
              <a:rPr sz="2250" b="0">
                <a:solidFill>
                  <a:srgbClr val="203E30"/>
                </a:solidFill>
                <a:latin typeface="Arial"/>
                <a:ea typeface="Arial"/>
                <a:cs typeface="Arial"/>
              </a:rPr>
              <a:t>Помилки в обліку</a:t>
            </a:r>
          </a:p>
        </p:txBody>
      </p:sp>
    </p:spTree>
    <p:extLst>
      <p:ext uri="{BB962C8B-B14F-4D97-AF65-F5344CB8AC3E}">
        <p14:creationId xmlns:p14="http://schemas.microsoft.com/office/powerpoint/2010/main" val="1690811145"/>
      </p:ext>
    </p:extLst>
  </p:cSld>
</p:sld>
</file>

<file path=ppt/slides/slide3.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7" name="placeholder_1">
            <a:extLst xmlns:a="http://schemas.openxmlformats.org/drawingml/2006/main">
              <a:ext uri="{FF2B5EF4-FFF2-40B4-BE49-F238E27FC236}">
                <a16:creationId xmlns:a16="http://schemas.microsoft.com/office/drawing/2014/main" id="{540B2EA6-C01F-4C67-9370-6F3C9A7F4069}"/>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Одна розмова замінює перемикання між програмами</a:t>
            </a:r>
          </a:p>
        </p:txBody>
      </p:sp>
      <p:sp>
        <p:nvSpPr>
          <p:cNvPr id="2" name="">
            <a:extLst xmlns:a="http://schemas.openxmlformats.org/drawingml/2006/main">
              <a:ext uri="{FF2B5EF4-FFF2-40B4-BE49-F238E27FC236}">
                <a16:creationId xmlns:a16="http://schemas.microsoft.com/office/drawing/2014/main" id="{AE7BC009-5406-4E17-8000-3E0FD091C7AC}"/>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8D23C4AB-B9A2-4ADB-8D5E-DDD62157C872}"/>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D1917CA4-CBF6-4EAF-9C36-F9C719856E91}"/>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Ілюстрація майбутнього продукту. Дані вигадані.</a:t>
            </a:r>
          </a:p>
        </p:txBody>
      </p:sp>
      <p:sp>
        <p:nvSpPr>
          <p:cNvPr id="5" name="">
            <a:extLst xmlns:a="http://schemas.openxmlformats.org/drawingml/2006/main">
              <a:ext uri="{FF2B5EF4-FFF2-40B4-BE49-F238E27FC236}">
                <a16:creationId xmlns:a16="http://schemas.microsoft.com/office/drawing/2014/main" id="{B49437D4-5F99-4FC5-BDC7-4DCD51693CA4}"/>
              </a:ext>
            </a:extLst>
          </p:cNvPr>
          <p:cNvSpPr>
            <a:spLocks xmlns:a="http://schemas.openxmlformats.org/drawingml/2006/main" noGrp="1"/>
          </p:cNvSpPr>
          <p:nvPr/>
        </p:nvSpPr>
        <p:spPr>
          <a:xfrm xmlns:a="http://schemas.openxmlformats.org/drawingml/2006/main">
            <a:off x="609600" y="1952625"/>
            <a:ext cx="6762750" cy="819150"/>
          </a:xfrm>
          <a:prstGeom xmlns:a="http://schemas.openxmlformats.org/drawingml/2006/main" prst="roundRect">
            <a:avLst>
              <a:gd name="adj" fmla="val 9302"/>
            </a:avLst>
          </a:prstGeom>
          <a:solidFill xmlns:a="http://schemas.openxmlformats.org/drawingml/2006/main">
            <a:srgbClr val="E5ECD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E7B1D35-0BD9-464F-B71A-65350CD29B78}"/>
              </a:ext>
            </a:extLst>
          </p:cNvPr>
          <p:cNvSpPr>
            <a:spLocks xmlns:a="http://schemas.openxmlformats.org/drawingml/2006/main" noGrp="1"/>
          </p:cNvSpPr>
          <p:nvPr/>
        </p:nvSpPr>
        <p:spPr>
          <a:xfrm xmlns:a="http://schemas.openxmlformats.org/drawingml/2006/main">
            <a:off x="828675" y="2076450"/>
            <a:ext cx="6238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Скільки я заробив цього місяця?</a:t>
            </a:r>
          </a:p>
        </p:txBody>
      </p:sp>
      <p:sp>
        <p:nvSpPr>
          <p:cNvPr id="7" name="">
            <a:extLst xmlns:a="http://schemas.openxmlformats.org/drawingml/2006/main">
              <a:ext uri="{FF2B5EF4-FFF2-40B4-BE49-F238E27FC236}">
                <a16:creationId xmlns:a16="http://schemas.microsoft.com/office/drawing/2014/main" id="{FDEF89D0-DF7B-4112-A3FB-F8C3BAB037C6}"/>
              </a:ext>
            </a:extLst>
          </p:cNvPr>
          <p:cNvSpPr>
            <a:spLocks xmlns:a="http://schemas.openxmlformats.org/drawingml/2006/main" noGrp="1"/>
          </p:cNvSpPr>
          <p:nvPr/>
        </p:nvSpPr>
        <p:spPr>
          <a:xfrm xmlns:a="http://schemas.openxmlformats.org/drawingml/2006/main">
            <a:off x="7715250" y="2162175"/>
            <a:ext cx="3829050" cy="628650"/>
          </a:xfrm>
          <a:prstGeom xmlns:a="http://schemas.openxmlformats.org/drawingml/2006/main" prst="roundRect">
            <a:avLst>
              <a:gd name="adj" fmla="val 12121"/>
            </a:avLst>
          </a:prstGeom>
          <a:solidFill xmlns:a="http://schemas.openxmlformats.org/drawingml/2006/main">
            <a:srgbClr val="285B4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C065E87-F361-4050-BC27-9D938EE5A136}"/>
              </a:ext>
            </a:extLst>
          </p:cNvPr>
          <p:cNvSpPr>
            <a:spLocks xmlns:a="http://schemas.openxmlformats.org/drawingml/2006/main" noGrp="1"/>
          </p:cNvSpPr>
          <p:nvPr/>
        </p:nvSpPr>
        <p:spPr>
          <a:xfrm xmlns:a="http://schemas.openxmlformats.org/drawingml/2006/main">
            <a:off x="7905750" y="2238375"/>
            <a:ext cx="3457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FFFFFF"/>
                </a:solidFill>
                <a:latin typeface="Arial"/>
                <a:ea typeface="Arial"/>
                <a:cs typeface="Arial"/>
              </a:defRPr>
            </a:def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32 500 грн після витрат</a:t>
            </a:r>
          </a:p>
        </p:txBody>
      </p:sp>
      <p:sp>
        <p:nvSpPr>
          <p:cNvPr id="9" name="">
            <a:extLst xmlns:a="http://schemas.openxmlformats.org/drawingml/2006/main">
              <a:ext uri="{FF2B5EF4-FFF2-40B4-BE49-F238E27FC236}">
                <a16:creationId xmlns:a16="http://schemas.microsoft.com/office/drawing/2014/main" id="{685629E1-DA1C-4BF2-95E7-A8D3E8B69408}"/>
              </a:ext>
            </a:extLst>
          </p:cNvPr>
          <p:cNvSpPr>
            <a:spLocks xmlns:a="http://schemas.openxmlformats.org/drawingml/2006/main" noGrp="1"/>
          </p:cNvSpPr>
          <p:nvPr/>
        </p:nvSpPr>
        <p:spPr>
          <a:xfrm xmlns:a="http://schemas.openxmlformats.org/drawingml/2006/main">
            <a:off x="609600" y="3171825"/>
            <a:ext cx="6762750" cy="819150"/>
          </a:xfrm>
          <a:prstGeom xmlns:a="http://schemas.openxmlformats.org/drawingml/2006/main" prst="roundRect">
            <a:avLst>
              <a:gd name="adj" fmla="val 9302"/>
            </a:avLst>
          </a:prstGeom>
          <a:solidFill xmlns:a="http://schemas.openxmlformats.org/drawingml/2006/main">
            <a:srgbClr val="E5ECD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B0FCEAB-6556-4199-BE01-A6799826F209}"/>
              </a:ext>
            </a:extLst>
          </p:cNvPr>
          <p:cNvSpPr>
            <a:spLocks xmlns:a="http://schemas.openxmlformats.org/drawingml/2006/main" noGrp="1"/>
          </p:cNvSpPr>
          <p:nvPr/>
        </p:nvSpPr>
        <p:spPr>
          <a:xfrm xmlns:a="http://schemas.openxmlformats.org/drawingml/2006/main">
            <a:off x="828675" y="3295650"/>
            <a:ext cx="6238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Запиши Олену на вівторок о 14:00</a:t>
            </a:r>
          </a:p>
        </p:txBody>
      </p:sp>
      <p:sp>
        <p:nvSpPr>
          <p:cNvPr id="11" name="">
            <a:extLst xmlns:a="http://schemas.openxmlformats.org/drawingml/2006/main">
              <a:ext uri="{FF2B5EF4-FFF2-40B4-BE49-F238E27FC236}">
                <a16:creationId xmlns:a16="http://schemas.microsoft.com/office/drawing/2014/main" id="{410874A0-5AAA-4A9C-95C6-BC27DF278073}"/>
              </a:ext>
            </a:extLst>
          </p:cNvPr>
          <p:cNvSpPr>
            <a:spLocks xmlns:a="http://schemas.openxmlformats.org/drawingml/2006/main" noGrp="1"/>
          </p:cNvSpPr>
          <p:nvPr/>
        </p:nvSpPr>
        <p:spPr>
          <a:xfrm xmlns:a="http://schemas.openxmlformats.org/drawingml/2006/main">
            <a:off x="7715250" y="3381375"/>
            <a:ext cx="3829050" cy="628650"/>
          </a:xfrm>
          <a:prstGeom xmlns:a="http://schemas.openxmlformats.org/drawingml/2006/main" prst="roundRect">
            <a:avLst>
              <a:gd name="adj" fmla="val 12121"/>
            </a:avLst>
          </a:prstGeom>
          <a:solidFill xmlns:a="http://schemas.openxmlformats.org/drawingml/2006/main">
            <a:srgbClr val="285B4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A8F0B08-D97C-486D-99E1-474C85830A41}"/>
              </a:ext>
            </a:extLst>
          </p:cNvPr>
          <p:cNvSpPr>
            <a:spLocks xmlns:a="http://schemas.openxmlformats.org/drawingml/2006/main" noGrp="1"/>
          </p:cNvSpPr>
          <p:nvPr/>
        </p:nvSpPr>
        <p:spPr>
          <a:xfrm xmlns:a="http://schemas.openxmlformats.org/drawingml/2006/main">
            <a:off x="7905750" y="3457575"/>
            <a:ext cx="3457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FFFFFF"/>
                </a:solidFill>
                <a:latin typeface="Arial"/>
                <a:ea typeface="Arial"/>
                <a:cs typeface="Arial"/>
              </a:defRPr>
            </a:def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Олена, вівторок, 14:00</a:t>
            </a:r>
          </a:p>
        </p:txBody>
      </p:sp>
      <p:sp>
        <p:nvSpPr>
          <p:cNvPr id="13" name="">
            <a:extLst xmlns:a="http://schemas.openxmlformats.org/drawingml/2006/main">
              <a:ext uri="{FF2B5EF4-FFF2-40B4-BE49-F238E27FC236}">
                <a16:creationId xmlns:a16="http://schemas.microsoft.com/office/drawing/2014/main" id="{0DD8C3A4-C182-41FB-9F2D-F43B9C07B3E0}"/>
              </a:ext>
            </a:extLst>
          </p:cNvPr>
          <p:cNvSpPr>
            <a:spLocks xmlns:a="http://schemas.openxmlformats.org/drawingml/2006/main" noGrp="1"/>
          </p:cNvSpPr>
          <p:nvPr/>
        </p:nvSpPr>
        <p:spPr>
          <a:xfrm xmlns:a="http://schemas.openxmlformats.org/drawingml/2006/main">
            <a:off x="609600" y="4391025"/>
            <a:ext cx="6762750" cy="819150"/>
          </a:xfrm>
          <a:prstGeom xmlns:a="http://schemas.openxmlformats.org/drawingml/2006/main" prst="roundRect">
            <a:avLst>
              <a:gd name="adj" fmla="val 9302"/>
            </a:avLst>
          </a:prstGeom>
          <a:solidFill xmlns:a="http://schemas.openxmlformats.org/drawingml/2006/main">
            <a:srgbClr val="E5ECD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33BEA0F-E3DC-490D-B4C7-0FA930058F0F}"/>
              </a:ext>
            </a:extLst>
          </p:cNvPr>
          <p:cNvSpPr>
            <a:spLocks xmlns:a="http://schemas.openxmlformats.org/drawingml/2006/main" noGrp="1"/>
          </p:cNvSpPr>
          <p:nvPr/>
        </p:nvSpPr>
        <p:spPr>
          <a:xfrm xmlns:a="http://schemas.openxmlformats.org/drawingml/2006/main">
            <a:off x="828675" y="4514850"/>
            <a:ext cx="6238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Додай витрату 500 грн на матеріали</a:t>
            </a:r>
          </a:p>
        </p:txBody>
      </p:sp>
      <p:sp>
        <p:nvSpPr>
          <p:cNvPr id="15" name="">
            <a:extLst xmlns:a="http://schemas.openxmlformats.org/drawingml/2006/main">
              <a:ext uri="{FF2B5EF4-FFF2-40B4-BE49-F238E27FC236}">
                <a16:creationId xmlns:a16="http://schemas.microsoft.com/office/drawing/2014/main" id="{CDE29B7E-2C3D-46BC-84D6-8393A5FC896D}"/>
              </a:ext>
            </a:extLst>
          </p:cNvPr>
          <p:cNvSpPr>
            <a:spLocks xmlns:a="http://schemas.openxmlformats.org/drawingml/2006/main" noGrp="1"/>
          </p:cNvSpPr>
          <p:nvPr/>
        </p:nvSpPr>
        <p:spPr>
          <a:xfrm xmlns:a="http://schemas.openxmlformats.org/drawingml/2006/main">
            <a:off x="7715250" y="4600575"/>
            <a:ext cx="3829050" cy="628650"/>
          </a:xfrm>
          <a:prstGeom xmlns:a="http://schemas.openxmlformats.org/drawingml/2006/main" prst="roundRect">
            <a:avLst>
              <a:gd name="adj" fmla="val 12121"/>
            </a:avLst>
          </a:prstGeom>
          <a:solidFill xmlns:a="http://schemas.openxmlformats.org/drawingml/2006/main">
            <a:srgbClr val="285B4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5216A82-74C2-47B1-ACB0-D5C289746674}"/>
              </a:ext>
            </a:extLst>
          </p:cNvPr>
          <p:cNvSpPr>
            <a:spLocks xmlns:a="http://schemas.openxmlformats.org/drawingml/2006/main" noGrp="1"/>
          </p:cNvSpPr>
          <p:nvPr/>
        </p:nvSpPr>
        <p:spPr>
          <a:xfrm xmlns:a="http://schemas.openxmlformats.org/drawingml/2006/main">
            <a:off x="7905750" y="4676775"/>
            <a:ext cx="3457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FFFFFF"/>
                </a:solidFill>
                <a:latin typeface="Arial"/>
                <a:ea typeface="Arial"/>
                <a:cs typeface="Arial"/>
              </a:defRPr>
            </a:def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500 грн: матеріали</a:t>
            </a:r>
          </a:p>
        </p:txBody>
      </p:sp>
    </p:spTree>
    <p:extLst>
      <p:ext uri="{BB962C8B-B14F-4D97-AF65-F5344CB8AC3E}">
        <p14:creationId xmlns:p14="http://schemas.microsoft.com/office/powerpoint/2010/main" val="2036041150"/>
      </p:ext>
    </p:extLst>
  </p:cSld>
</p:sld>
</file>

<file path=ppt/slides/slide4.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9" name="placeholder_1">
            <a:extLst xmlns:a="http://schemas.openxmlformats.org/drawingml/2006/main">
              <a:ext uri="{FF2B5EF4-FFF2-40B4-BE49-F238E27FC236}">
                <a16:creationId xmlns:a16="http://schemas.microsoft.com/office/drawing/2014/main" id="{540B2EA6-C01F-4C67-9370-6F3C9A7F4069}"/>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Чотири функції працюватимуть зі спільним контекстом</a:t>
            </a:r>
          </a:p>
        </p:txBody>
      </p:sp>
      <p:sp>
        <p:nvSpPr>
          <p:cNvPr id="2" name="">
            <a:extLst xmlns:a="http://schemas.openxmlformats.org/drawingml/2006/main">
              <a:ext uri="{FF2B5EF4-FFF2-40B4-BE49-F238E27FC236}">
                <a16:creationId xmlns:a16="http://schemas.microsoft.com/office/drawing/2014/main" id="{F06CE06D-78BB-4181-ACFE-AE2FB4B8AA82}"/>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435906F2-125A-469C-A374-657C07433F8B}"/>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9DE3436B-B1A5-479F-AA65-6997A8045902}"/>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MVP: план продукту. Банківські інтеграції та нові канали заплановані у V2.</a:t>
            </a:r>
          </a:p>
        </p:txBody>
      </p:sp>
      <p:sp>
        <p:nvSpPr>
          <p:cNvPr id="5" name="">
            <a:extLst xmlns:a="http://schemas.openxmlformats.org/drawingml/2006/main">
              <a:ext uri="{FF2B5EF4-FFF2-40B4-BE49-F238E27FC236}">
                <a16:creationId xmlns:a16="http://schemas.microsoft.com/office/drawing/2014/main" id="{ABA44DB0-F127-4645-B07F-80A21D066A34}"/>
              </a:ext>
            </a:extLst>
          </p:cNvPr>
          <p:cNvSpPr>
            <a:spLocks xmlns:a="http://schemas.openxmlformats.org/drawingml/2006/main" noGrp="1"/>
          </p:cNvSpPr>
          <p:nvPr/>
        </p:nvSpPr>
        <p:spPr>
          <a:xfrm xmlns:a="http://schemas.openxmlformats.org/drawingml/2006/main">
            <a:off x="609600" y="2095500"/>
            <a:ext cx="5238750" cy="12382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68C389F-5189-4912-803B-13BAF9E8F783}"/>
              </a:ext>
            </a:extLst>
          </p:cNvPr>
          <p:cNvSpPr>
            <a:spLocks xmlns:a="http://schemas.openxmlformats.org/drawingml/2006/main" noGrp="1"/>
          </p:cNvSpPr>
          <p:nvPr/>
        </p:nvSpPr>
        <p:spPr>
          <a:xfrm xmlns:a="http://schemas.openxmlformats.org/drawingml/2006/main">
            <a:off x="819150" y="22288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1">
                <a:solidFill>
                  <a:srgbClr val="285B43"/>
                </a:solidFill>
                <a:latin typeface="Calibri"/>
                <a:ea typeface="Calibri"/>
                <a:cs typeface="Calibri"/>
              </a:defRPr>
            </a:defPPr>
          </a:lstStyle>
          <a:p xmlns:a="http://schemas.openxmlformats.org/drawingml/2006/main">
            <a:pPr>
              <a:defRPr sz="2550" b="1">
                <a:solidFill>
                  <a:srgbClr val="285B43"/>
                </a:solidFill>
                <a:latin typeface="Calibri"/>
                <a:ea typeface="Calibri"/>
                <a:cs typeface="Calibri"/>
              </a:defRPr>
            </a:pPr>
            <a:r>
              <a:rPr sz="2550" b="1">
                <a:solidFill>
                  <a:srgbClr val="285B43"/>
                </a:solidFill>
                <a:latin typeface="Calibri"/>
                <a:ea typeface="Calibri"/>
                <a:cs typeface="Calibri"/>
              </a:rPr>
              <a:t>Облік</a:t>
            </a:r>
          </a:p>
        </p:txBody>
      </p:sp>
      <p:sp>
        <p:nvSpPr>
          <p:cNvPr id="7" name="">
            <a:extLst xmlns:a="http://schemas.openxmlformats.org/drawingml/2006/main">
              <a:ext uri="{FF2B5EF4-FFF2-40B4-BE49-F238E27FC236}">
                <a16:creationId xmlns:a16="http://schemas.microsoft.com/office/drawing/2014/main" id="{ADD2790A-BC6A-49D4-A48C-465E5BDCADEA}"/>
              </a:ext>
            </a:extLst>
          </p:cNvPr>
          <p:cNvSpPr>
            <a:spLocks xmlns:a="http://schemas.openxmlformats.org/drawingml/2006/main" noGrp="1"/>
          </p:cNvSpPr>
          <p:nvPr/>
        </p:nvSpPr>
        <p:spPr>
          <a:xfrm xmlns:a="http://schemas.openxmlformats.org/drawingml/2006/main">
            <a:off x="819150" y="27336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03E30"/>
                </a:solidFill>
                <a:latin typeface="Arial"/>
                <a:ea typeface="Arial"/>
                <a:cs typeface="Arial"/>
              </a:defRPr>
            </a:defPPr>
          </a:lstStyle>
          <a:p xmlns:a="http://schemas.openxmlformats.org/drawingml/2006/main">
            <a:pPr>
              <a:defRPr sz="1950" b="0">
                <a:solidFill>
                  <a:srgbClr val="203E30"/>
                </a:solidFill>
                <a:latin typeface="Arial"/>
                <a:ea typeface="Arial"/>
                <a:cs typeface="Arial"/>
              </a:defRPr>
            </a:pPr>
            <a:r>
              <a:rPr sz="1950" b="0">
                <a:solidFill>
                  <a:srgbClr val="203E30"/>
                </a:solidFill>
                <a:latin typeface="Arial"/>
                <a:ea typeface="Arial"/>
                <a:cs typeface="Arial"/>
              </a:rPr>
              <a:t>Чек, категорія, звіт</a:t>
            </a:r>
          </a:p>
        </p:txBody>
      </p:sp>
      <p:sp>
        <p:nvSpPr>
          <p:cNvPr id="8" name="">
            <a:extLst xmlns:a="http://schemas.openxmlformats.org/drawingml/2006/main">
              <a:ext uri="{FF2B5EF4-FFF2-40B4-BE49-F238E27FC236}">
                <a16:creationId xmlns:a16="http://schemas.microsoft.com/office/drawing/2014/main" id="{7FD899A9-3EF8-4014-B116-85E66364000B}"/>
              </a:ext>
            </a:extLst>
          </p:cNvPr>
          <p:cNvSpPr>
            <a:spLocks xmlns:a="http://schemas.openxmlformats.org/drawingml/2006/main" noGrp="1"/>
          </p:cNvSpPr>
          <p:nvPr/>
        </p:nvSpPr>
        <p:spPr>
          <a:xfrm xmlns:a="http://schemas.openxmlformats.org/drawingml/2006/main">
            <a:off x="6229350" y="2095500"/>
            <a:ext cx="5238750" cy="12382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5986F33-681F-4E20-981E-4FF083CBD8FB}"/>
              </a:ext>
            </a:extLst>
          </p:cNvPr>
          <p:cNvSpPr>
            <a:spLocks xmlns:a="http://schemas.openxmlformats.org/drawingml/2006/main" noGrp="1"/>
          </p:cNvSpPr>
          <p:nvPr/>
        </p:nvSpPr>
        <p:spPr>
          <a:xfrm xmlns:a="http://schemas.openxmlformats.org/drawingml/2006/main">
            <a:off x="6438900" y="22288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1">
                <a:solidFill>
                  <a:srgbClr val="285B43"/>
                </a:solidFill>
                <a:latin typeface="Calibri"/>
                <a:ea typeface="Calibri"/>
                <a:cs typeface="Calibri"/>
              </a:defRPr>
            </a:defPPr>
          </a:lstStyle>
          <a:p xmlns:a="http://schemas.openxmlformats.org/drawingml/2006/main">
            <a:pPr>
              <a:defRPr sz="2550" b="1">
                <a:solidFill>
                  <a:srgbClr val="285B43"/>
                </a:solidFill>
                <a:latin typeface="Calibri"/>
                <a:ea typeface="Calibri"/>
                <a:cs typeface="Calibri"/>
              </a:defRPr>
            </a:pPr>
            <a:r>
              <a:rPr sz="2550" b="1">
                <a:solidFill>
                  <a:srgbClr val="285B43"/>
                </a:solidFill>
                <a:latin typeface="Calibri"/>
                <a:ea typeface="Calibri"/>
                <a:cs typeface="Calibri"/>
              </a:rPr>
              <a:t>Клієнти</a:t>
            </a:r>
          </a:p>
        </p:txBody>
      </p:sp>
      <p:sp>
        <p:nvSpPr>
          <p:cNvPr id="10" name="">
            <a:extLst xmlns:a="http://schemas.openxmlformats.org/drawingml/2006/main">
              <a:ext uri="{FF2B5EF4-FFF2-40B4-BE49-F238E27FC236}">
                <a16:creationId xmlns:a16="http://schemas.microsoft.com/office/drawing/2014/main" id="{CEC27413-1FF5-447B-9E46-1D8014CCF1E7}"/>
              </a:ext>
            </a:extLst>
          </p:cNvPr>
          <p:cNvSpPr>
            <a:spLocks xmlns:a="http://schemas.openxmlformats.org/drawingml/2006/main" noGrp="1"/>
          </p:cNvSpPr>
          <p:nvPr/>
        </p:nvSpPr>
        <p:spPr>
          <a:xfrm xmlns:a="http://schemas.openxmlformats.org/drawingml/2006/main">
            <a:off x="6438900" y="27336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03E30"/>
                </a:solidFill>
                <a:latin typeface="Arial"/>
                <a:ea typeface="Arial"/>
                <a:cs typeface="Arial"/>
              </a:defRPr>
            </a:defPPr>
          </a:lstStyle>
          <a:p xmlns:a="http://schemas.openxmlformats.org/drawingml/2006/main">
            <a:pPr>
              <a:defRPr sz="1950" b="0">
                <a:solidFill>
                  <a:srgbClr val="203E30"/>
                </a:solidFill>
                <a:latin typeface="Arial"/>
                <a:ea typeface="Arial"/>
                <a:cs typeface="Arial"/>
              </a:defRPr>
            </a:pPr>
            <a:r>
              <a:rPr sz="1950" b="0">
                <a:solidFill>
                  <a:srgbClr val="203E30"/>
                </a:solidFill>
                <a:latin typeface="Arial"/>
                <a:ea typeface="Arial"/>
                <a:cs typeface="Arial"/>
              </a:rPr>
              <a:t>Відповіді й оплати</a:t>
            </a:r>
          </a:p>
        </p:txBody>
      </p:sp>
      <p:sp>
        <p:nvSpPr>
          <p:cNvPr id="11" name="">
            <a:extLst xmlns:a="http://schemas.openxmlformats.org/drawingml/2006/main">
              <a:ext uri="{FF2B5EF4-FFF2-40B4-BE49-F238E27FC236}">
                <a16:creationId xmlns:a16="http://schemas.microsoft.com/office/drawing/2014/main" id="{2B3EE537-7C19-4CAA-8F8C-48FE440A99D4}"/>
              </a:ext>
            </a:extLst>
          </p:cNvPr>
          <p:cNvSpPr>
            <a:spLocks xmlns:a="http://schemas.openxmlformats.org/drawingml/2006/main" noGrp="1"/>
          </p:cNvSpPr>
          <p:nvPr/>
        </p:nvSpPr>
        <p:spPr>
          <a:xfrm xmlns:a="http://schemas.openxmlformats.org/drawingml/2006/main">
            <a:off x="609600" y="3619500"/>
            <a:ext cx="5238750" cy="12382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16B003F-3147-4836-9860-8545AF3FE3C9}"/>
              </a:ext>
            </a:extLst>
          </p:cNvPr>
          <p:cNvSpPr>
            <a:spLocks xmlns:a="http://schemas.openxmlformats.org/drawingml/2006/main" noGrp="1"/>
          </p:cNvSpPr>
          <p:nvPr/>
        </p:nvSpPr>
        <p:spPr>
          <a:xfrm xmlns:a="http://schemas.openxmlformats.org/drawingml/2006/main">
            <a:off x="819150" y="37528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1">
                <a:solidFill>
                  <a:srgbClr val="285B43"/>
                </a:solidFill>
                <a:latin typeface="Calibri"/>
                <a:ea typeface="Calibri"/>
                <a:cs typeface="Calibri"/>
              </a:defRPr>
            </a:defPPr>
          </a:lstStyle>
          <a:p xmlns:a="http://schemas.openxmlformats.org/drawingml/2006/main">
            <a:pPr>
              <a:defRPr sz="2550" b="1">
                <a:solidFill>
                  <a:srgbClr val="285B43"/>
                </a:solidFill>
                <a:latin typeface="Calibri"/>
                <a:ea typeface="Calibri"/>
                <a:cs typeface="Calibri"/>
              </a:defRPr>
            </a:pPr>
            <a:r>
              <a:rPr sz="2550" b="1">
                <a:solidFill>
                  <a:srgbClr val="285B43"/>
                </a:solidFill>
                <a:latin typeface="Calibri"/>
                <a:ea typeface="Calibri"/>
                <a:cs typeface="Calibri"/>
              </a:rPr>
              <a:t>Календар</a:t>
            </a:r>
          </a:p>
        </p:txBody>
      </p:sp>
      <p:sp>
        <p:nvSpPr>
          <p:cNvPr id="13" name="">
            <a:extLst xmlns:a="http://schemas.openxmlformats.org/drawingml/2006/main">
              <a:ext uri="{FF2B5EF4-FFF2-40B4-BE49-F238E27FC236}">
                <a16:creationId xmlns:a16="http://schemas.microsoft.com/office/drawing/2014/main" id="{486368DC-9B58-4D08-A088-A4ACDF71EF14}"/>
              </a:ext>
            </a:extLst>
          </p:cNvPr>
          <p:cNvSpPr>
            <a:spLocks xmlns:a="http://schemas.openxmlformats.org/drawingml/2006/main" noGrp="1"/>
          </p:cNvSpPr>
          <p:nvPr/>
        </p:nvSpPr>
        <p:spPr>
          <a:xfrm xmlns:a="http://schemas.openxmlformats.org/drawingml/2006/main">
            <a:off x="819150" y="42576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03E30"/>
                </a:solidFill>
                <a:latin typeface="Arial"/>
                <a:ea typeface="Arial"/>
                <a:cs typeface="Arial"/>
              </a:defRPr>
            </a:defPPr>
          </a:lstStyle>
          <a:p xmlns:a="http://schemas.openxmlformats.org/drawingml/2006/main">
            <a:pPr>
              <a:defRPr sz="1950" b="0">
                <a:solidFill>
                  <a:srgbClr val="203E30"/>
                </a:solidFill>
                <a:latin typeface="Arial"/>
                <a:ea typeface="Arial"/>
                <a:cs typeface="Arial"/>
              </a:defRPr>
            </a:pPr>
            <a:r>
              <a:rPr sz="1950" b="0">
                <a:solidFill>
                  <a:srgbClr val="203E30"/>
                </a:solidFill>
                <a:latin typeface="Arial"/>
                <a:ea typeface="Arial"/>
                <a:cs typeface="Arial"/>
              </a:rPr>
              <a:t>Записи й нагадування</a:t>
            </a:r>
          </a:p>
        </p:txBody>
      </p:sp>
      <p:sp>
        <p:nvSpPr>
          <p:cNvPr id="14" name="">
            <a:extLst xmlns:a="http://schemas.openxmlformats.org/drawingml/2006/main">
              <a:ext uri="{FF2B5EF4-FFF2-40B4-BE49-F238E27FC236}">
                <a16:creationId xmlns:a16="http://schemas.microsoft.com/office/drawing/2014/main" id="{B21F8AF4-9B3B-48CD-A7F4-AC61C8850700}"/>
              </a:ext>
            </a:extLst>
          </p:cNvPr>
          <p:cNvSpPr>
            <a:spLocks xmlns:a="http://schemas.openxmlformats.org/drawingml/2006/main" noGrp="1"/>
          </p:cNvSpPr>
          <p:nvPr/>
        </p:nvSpPr>
        <p:spPr>
          <a:xfrm xmlns:a="http://schemas.openxmlformats.org/drawingml/2006/main">
            <a:off x="6229350" y="3619500"/>
            <a:ext cx="5238750" cy="1238250"/>
          </a:xfrm>
          <a:prstGeom xmlns:a="http://schemas.openxmlformats.org/drawingml/2006/main" prst="rect">
            <a:avLst/>
          </a:prstGeom>
          <a:solidFill xmlns:a="http://schemas.openxmlformats.org/drawingml/2006/main">
            <a:srgbClr val="E5ECD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3715D04-3555-40D4-B765-C5E68F737EEB}"/>
              </a:ext>
            </a:extLst>
          </p:cNvPr>
          <p:cNvSpPr>
            <a:spLocks xmlns:a="http://schemas.openxmlformats.org/drawingml/2006/main" noGrp="1"/>
          </p:cNvSpPr>
          <p:nvPr/>
        </p:nvSpPr>
        <p:spPr>
          <a:xfrm xmlns:a="http://schemas.openxmlformats.org/drawingml/2006/main">
            <a:off x="6438900" y="37528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1">
                <a:solidFill>
                  <a:srgbClr val="285B43"/>
                </a:solidFill>
                <a:latin typeface="Calibri"/>
                <a:ea typeface="Calibri"/>
                <a:cs typeface="Calibri"/>
              </a:defRPr>
            </a:defPPr>
          </a:lstStyle>
          <a:p xmlns:a="http://schemas.openxmlformats.org/drawingml/2006/main">
            <a:pPr>
              <a:defRPr sz="2550" b="1">
                <a:solidFill>
                  <a:srgbClr val="285B43"/>
                </a:solidFill>
                <a:latin typeface="Calibri"/>
                <a:ea typeface="Calibri"/>
                <a:cs typeface="Calibri"/>
              </a:defRPr>
            </a:pPr>
            <a:r>
              <a:rPr sz="2550" b="1">
                <a:solidFill>
                  <a:srgbClr val="285B43"/>
                </a:solidFill>
                <a:latin typeface="Calibri"/>
                <a:ea typeface="Calibri"/>
                <a:cs typeface="Calibri"/>
              </a:rPr>
              <a:t>Голос і текст</a:t>
            </a:r>
          </a:p>
        </p:txBody>
      </p:sp>
      <p:sp>
        <p:nvSpPr>
          <p:cNvPr id="16" name="">
            <a:extLst xmlns:a="http://schemas.openxmlformats.org/drawingml/2006/main">
              <a:ext uri="{FF2B5EF4-FFF2-40B4-BE49-F238E27FC236}">
                <a16:creationId xmlns:a16="http://schemas.microsoft.com/office/drawing/2014/main" id="{7C95D531-BA08-40DE-AD07-B7C8211D327F}"/>
              </a:ext>
            </a:extLst>
          </p:cNvPr>
          <p:cNvSpPr>
            <a:spLocks xmlns:a="http://schemas.openxmlformats.org/drawingml/2006/main" noGrp="1"/>
          </p:cNvSpPr>
          <p:nvPr/>
        </p:nvSpPr>
        <p:spPr>
          <a:xfrm xmlns:a="http://schemas.openxmlformats.org/drawingml/2006/main">
            <a:off x="6438900" y="42576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03E30"/>
                </a:solidFill>
                <a:latin typeface="Arial"/>
                <a:ea typeface="Arial"/>
                <a:cs typeface="Arial"/>
              </a:defRPr>
            </a:defPPr>
          </a:lstStyle>
          <a:p xmlns:a="http://schemas.openxmlformats.org/drawingml/2006/main">
            <a:pPr>
              <a:defRPr sz="1950" b="0">
                <a:solidFill>
                  <a:srgbClr val="203E30"/>
                </a:solidFill>
                <a:latin typeface="Arial"/>
                <a:ea typeface="Arial"/>
                <a:cs typeface="Arial"/>
              </a:defRPr>
            </a:pPr>
            <a:r>
              <a:rPr sz="1950" b="0">
                <a:solidFill>
                  <a:srgbClr val="203E30"/>
                </a:solidFill>
                <a:latin typeface="Arial"/>
                <a:ea typeface="Arial"/>
                <a:cs typeface="Arial"/>
              </a:rPr>
              <a:t>Звичайні запити</a:t>
            </a:r>
          </a:p>
        </p:txBody>
      </p:sp>
      <p:sp>
        <p:nvSpPr>
          <p:cNvPr id="17" name="">
            <a:extLst xmlns:a="http://schemas.openxmlformats.org/drawingml/2006/main">
              <a:ext uri="{FF2B5EF4-FFF2-40B4-BE49-F238E27FC236}">
                <a16:creationId xmlns:a16="http://schemas.microsoft.com/office/drawing/2014/main" id="{2240FE65-6B45-4B56-A26B-DE972E285DCA}"/>
              </a:ext>
            </a:extLst>
          </p:cNvPr>
          <p:cNvSpPr>
            <a:spLocks xmlns:a="http://schemas.openxmlformats.org/drawingml/2006/main" noGrp="1"/>
          </p:cNvSpPr>
          <p:nvPr/>
        </p:nvSpPr>
        <p:spPr>
          <a:xfrm xmlns:a="http://schemas.openxmlformats.org/drawingml/2006/main">
            <a:off x="609600" y="5238750"/>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0">
                <a:solidFill>
                  <a:srgbClr val="657266"/>
                </a:solidFill>
                <a:latin typeface="Arial"/>
                <a:ea typeface="Arial"/>
                <a:cs typeface="Arial"/>
              </a:defRPr>
            </a:defPPr>
          </a:lstStyle>
          <a:p xmlns:a="http://schemas.openxmlformats.org/drawingml/2006/main">
            <a:pPr>
              <a:defRPr sz="2550" b="0">
                <a:solidFill>
                  <a:srgbClr val="657266"/>
                </a:solidFill>
                <a:latin typeface="Arial"/>
                <a:ea typeface="Arial"/>
                <a:cs typeface="Arial"/>
              </a:defRPr>
            </a:pPr>
            <a:r>
              <a:rPr sz="2550" b="0">
                <a:solidFill>
                  <a:srgbClr val="657266"/>
                </a:solidFill>
                <a:latin typeface="Arial"/>
                <a:ea typeface="Arial"/>
                <a:cs typeface="Arial"/>
              </a:rPr>
              <a:t>4 програми</a:t>
            </a:r>
          </a:p>
        </p:txBody>
      </p:sp>
      <p:sp>
        <p:nvSpPr>
          <p:cNvPr id="18" name="">
            <a:extLst xmlns:a="http://schemas.openxmlformats.org/drawingml/2006/main">
              <a:ext uri="{FF2B5EF4-FFF2-40B4-BE49-F238E27FC236}">
                <a16:creationId xmlns:a16="http://schemas.microsoft.com/office/drawing/2014/main" id="{54E86F3E-EA8F-4894-950E-1A5A910708EB}"/>
              </a:ext>
            </a:extLst>
          </p:cNvPr>
          <p:cNvSpPr>
            <a:spLocks xmlns:a="http://schemas.openxmlformats.org/drawingml/2006/main" noGrp="1"/>
          </p:cNvSpPr>
          <p:nvPr/>
        </p:nvSpPr>
        <p:spPr>
          <a:xfrm xmlns:a="http://schemas.openxmlformats.org/drawingml/2006/main">
            <a:off x="7143750" y="5238750"/>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150" b="1">
                <a:solidFill>
                  <a:srgbClr val="285B43"/>
                </a:solidFill>
                <a:latin typeface="Calibri"/>
                <a:ea typeface="Calibri"/>
                <a:cs typeface="Calibri"/>
              </a:defRPr>
            </a:defPPr>
          </a:lstStyle>
          <a:p xmlns:a="http://schemas.openxmlformats.org/drawingml/2006/main">
            <a:pPr>
              <a:defRPr sz="3150" b="1">
                <a:solidFill>
                  <a:srgbClr val="285B43"/>
                </a:solidFill>
                <a:latin typeface="Calibri"/>
                <a:ea typeface="Calibri"/>
                <a:cs typeface="Calibri"/>
              </a:defRPr>
            </a:pPr>
            <a:r>
              <a:rPr sz="3150" b="1">
                <a:solidFill>
                  <a:srgbClr val="285B43"/>
                </a:solidFill>
                <a:latin typeface="Calibri"/>
                <a:ea typeface="Calibri"/>
                <a:cs typeface="Calibri"/>
              </a:rPr>
              <a:t>1 чат</a:t>
            </a:r>
          </a:p>
        </p:txBody>
      </p:sp>
    </p:spTree>
    <p:extLst>
      <p:ext uri="{BB962C8B-B14F-4D97-AF65-F5344CB8AC3E}">
        <p14:creationId xmlns:p14="http://schemas.microsoft.com/office/powerpoint/2010/main" val="916669014"/>
      </p:ext>
    </p:extLst>
  </p:cSld>
</p:sld>
</file>

<file path=ppt/slides/slide5.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6" name="placeholder_1">
            <a:extLst xmlns:a="http://schemas.openxmlformats.org/drawingml/2006/main">
              <a:ext uri="{FF2B5EF4-FFF2-40B4-BE49-F238E27FC236}">
                <a16:creationId xmlns:a16="http://schemas.microsoft.com/office/drawing/2014/main" id="{540B2EA6-C01F-4C67-9370-6F3C9A7F4069}"/>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Власник перевіряє дію перед тим, як асистент її виконає</a:t>
            </a:r>
          </a:p>
        </p:txBody>
      </p:sp>
      <p:sp>
        <p:nvSpPr>
          <p:cNvPr id="2" name="">
            <a:extLst xmlns:a="http://schemas.openxmlformats.org/drawingml/2006/main">
              <a:ext uri="{FF2B5EF4-FFF2-40B4-BE49-F238E27FC236}">
                <a16:creationId xmlns:a16="http://schemas.microsoft.com/office/drawing/2014/main" id="{D40B8F9E-C6E9-4C4D-B7D1-830C61C0F1B0}"/>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00AC5CD5-28B8-4907-915F-0DE8974775BE}"/>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AC909A2C-178D-43E2-877A-4A5186CCBCCE}"/>
              </a:ext>
            </a:extLst>
          </p:cNvPr>
          <p:cNvSpPr>
            <a:spLocks xmlns:a="http://schemas.openxmlformats.org/drawingml/2006/main" noGrp="1"/>
          </p:cNvSpPr>
          <p:nvPr/>
        </p:nvSpPr>
        <p:spPr>
          <a:xfrm xmlns:a="http://schemas.openxmlformats.org/drawingml/2006/main">
            <a:off x="609600" y="2143125"/>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5850" b="1">
                <a:solidFill>
                  <a:srgbClr val="285B43"/>
                </a:solidFill>
                <a:latin typeface="Calibri"/>
                <a:ea typeface="Calibri"/>
                <a:cs typeface="Calibri"/>
              </a:defRPr>
            </a:defPPr>
          </a:lstStyle>
          <a:p xmlns:a="http://schemas.openxmlformats.org/drawingml/2006/main">
            <a:pPr>
              <a:defRPr sz="5850" b="1">
                <a:solidFill>
                  <a:srgbClr val="285B43"/>
                </a:solidFill>
                <a:latin typeface="Calibri"/>
                <a:ea typeface="Calibri"/>
                <a:cs typeface="Calibri"/>
              </a:defRPr>
            </a:pPr>
            <a:r>
              <a:rPr sz="5850" b="1">
                <a:solidFill>
                  <a:srgbClr val="285B43"/>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107AE27-26E1-470A-A10D-63F5C6272735}"/>
              </a:ext>
            </a:extLst>
          </p:cNvPr>
          <p:cNvSpPr>
            <a:spLocks xmlns:a="http://schemas.openxmlformats.org/drawingml/2006/main" noGrp="1"/>
          </p:cNvSpPr>
          <p:nvPr/>
        </p:nvSpPr>
        <p:spPr>
          <a:xfrm xmlns:a="http://schemas.openxmlformats.org/drawingml/2006/main">
            <a:off x="609600" y="3314700"/>
            <a:ext cx="3238500" cy="28575"/>
          </a:xfrm>
          <a:prstGeom xmlns:a="http://schemas.openxmlformats.org/drawingml/2006/main" prst="rect">
            <a:avLst/>
          </a:prstGeom>
          <a:solidFill xmlns:a="http://schemas.openxmlformats.org/drawingml/2006/main">
            <a:srgbClr val="CED8C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1DA9861-68DE-4230-8741-1721F9E0D40E}"/>
              </a:ext>
            </a:extLst>
          </p:cNvPr>
          <p:cNvSpPr>
            <a:spLocks xmlns:a="http://schemas.openxmlformats.org/drawingml/2006/main" noGrp="1"/>
          </p:cNvSpPr>
          <p:nvPr/>
        </p:nvSpPr>
        <p:spPr>
          <a:xfrm xmlns:a="http://schemas.openxmlformats.org/drawingml/2006/main">
            <a:off x="609600" y="360045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775" b="1">
                <a:solidFill>
                  <a:srgbClr val="203E30"/>
                </a:solidFill>
                <a:latin typeface="Calibri"/>
                <a:ea typeface="Calibri"/>
                <a:cs typeface="Calibri"/>
              </a:defRPr>
            </a:defPPr>
          </a:lstStyle>
          <a:p xmlns:a="http://schemas.openxmlformats.org/drawingml/2006/main">
            <a:pPr>
              <a:defRPr sz="2775" b="1">
                <a:solidFill>
                  <a:srgbClr val="203E30"/>
                </a:solidFill>
                <a:latin typeface="Calibri"/>
                <a:ea typeface="Calibri"/>
                <a:cs typeface="Calibri"/>
              </a:defRPr>
            </a:pPr>
            <a:r>
              <a:rPr sz="2775" b="1">
                <a:solidFill>
                  <a:srgbClr val="203E30"/>
                </a:solidFill>
                <a:latin typeface="Calibri"/>
                <a:ea typeface="Calibri"/>
                <a:cs typeface="Calibri"/>
              </a:rPr>
              <a:t>Запит</a:t>
            </a:r>
          </a:p>
        </p:txBody>
      </p:sp>
      <p:sp>
        <p:nvSpPr>
          <p:cNvPr id="7" name="">
            <a:extLst xmlns:a="http://schemas.openxmlformats.org/drawingml/2006/main">
              <a:ext uri="{FF2B5EF4-FFF2-40B4-BE49-F238E27FC236}">
                <a16:creationId xmlns:a16="http://schemas.microsoft.com/office/drawing/2014/main" id="{1B928045-5A0A-4642-977E-E5055D5605E7}"/>
              </a:ext>
            </a:extLst>
          </p:cNvPr>
          <p:cNvSpPr>
            <a:spLocks xmlns:a="http://schemas.openxmlformats.org/drawingml/2006/main" noGrp="1"/>
          </p:cNvSpPr>
          <p:nvPr/>
        </p:nvSpPr>
        <p:spPr>
          <a:xfrm xmlns:a="http://schemas.openxmlformats.org/drawingml/2006/main">
            <a:off x="609600" y="4381500"/>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Напишіть або скажіть</a:t>
            </a:r>
          </a:p>
        </p:txBody>
      </p:sp>
      <p:sp>
        <p:nvSpPr>
          <p:cNvPr id="8" name="">
            <a:extLst xmlns:a="http://schemas.openxmlformats.org/drawingml/2006/main">
              <a:ext uri="{FF2B5EF4-FFF2-40B4-BE49-F238E27FC236}">
                <a16:creationId xmlns:a16="http://schemas.microsoft.com/office/drawing/2014/main" id="{D631B912-CD9C-4239-97CF-50B01B3D73EA}"/>
              </a:ext>
            </a:extLst>
          </p:cNvPr>
          <p:cNvSpPr>
            <a:spLocks xmlns:a="http://schemas.openxmlformats.org/drawingml/2006/main" noGrp="1"/>
          </p:cNvSpPr>
          <p:nvPr/>
        </p:nvSpPr>
        <p:spPr>
          <a:xfrm xmlns:a="http://schemas.openxmlformats.org/drawingml/2006/main">
            <a:off x="4352925" y="2143125"/>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5850" b="1">
                <a:solidFill>
                  <a:srgbClr val="285B43"/>
                </a:solidFill>
                <a:latin typeface="Calibri"/>
                <a:ea typeface="Calibri"/>
                <a:cs typeface="Calibri"/>
              </a:defRPr>
            </a:defPPr>
          </a:lstStyle>
          <a:p xmlns:a="http://schemas.openxmlformats.org/drawingml/2006/main">
            <a:pPr>
              <a:defRPr sz="5850" b="1">
                <a:solidFill>
                  <a:srgbClr val="285B43"/>
                </a:solidFill>
                <a:latin typeface="Calibri"/>
                <a:ea typeface="Calibri"/>
                <a:cs typeface="Calibri"/>
              </a:defRPr>
            </a:pPr>
            <a:r>
              <a:rPr sz="5850" b="1">
                <a:solidFill>
                  <a:srgbClr val="285B43"/>
                </a:solidFill>
                <a:latin typeface="Calibri"/>
                <a:ea typeface="Calibri"/>
                <a:cs typeface="Calibri"/>
              </a:rPr>
              <a:t>02</a:t>
            </a:r>
          </a:p>
        </p:txBody>
      </p:sp>
      <p:sp>
        <p:nvSpPr>
          <p:cNvPr id="9" name="">
            <a:extLst xmlns:a="http://schemas.openxmlformats.org/drawingml/2006/main">
              <a:ext uri="{FF2B5EF4-FFF2-40B4-BE49-F238E27FC236}">
                <a16:creationId xmlns:a16="http://schemas.microsoft.com/office/drawing/2014/main" id="{383874C4-03FA-4F83-8AC7-F9D1DDC3FD8B}"/>
              </a:ext>
            </a:extLst>
          </p:cNvPr>
          <p:cNvSpPr>
            <a:spLocks xmlns:a="http://schemas.openxmlformats.org/drawingml/2006/main" noGrp="1"/>
          </p:cNvSpPr>
          <p:nvPr/>
        </p:nvSpPr>
        <p:spPr>
          <a:xfrm xmlns:a="http://schemas.openxmlformats.org/drawingml/2006/main">
            <a:off x="4352925" y="3314700"/>
            <a:ext cx="3238500" cy="28575"/>
          </a:xfrm>
          <a:prstGeom xmlns:a="http://schemas.openxmlformats.org/drawingml/2006/main" prst="rect">
            <a:avLst/>
          </a:prstGeom>
          <a:solidFill xmlns:a="http://schemas.openxmlformats.org/drawingml/2006/main">
            <a:srgbClr val="CED8C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A266B55-ABE8-44D2-BFCA-F19A2BAF768D}"/>
              </a:ext>
            </a:extLst>
          </p:cNvPr>
          <p:cNvSpPr>
            <a:spLocks xmlns:a="http://schemas.openxmlformats.org/drawingml/2006/main" noGrp="1"/>
          </p:cNvSpPr>
          <p:nvPr/>
        </p:nvSpPr>
        <p:spPr>
          <a:xfrm xmlns:a="http://schemas.openxmlformats.org/drawingml/2006/main">
            <a:off x="4352925" y="360045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775" b="1">
                <a:solidFill>
                  <a:srgbClr val="203E30"/>
                </a:solidFill>
                <a:latin typeface="Calibri"/>
                <a:ea typeface="Calibri"/>
                <a:cs typeface="Calibri"/>
              </a:defRPr>
            </a:defPPr>
          </a:lstStyle>
          <a:p xmlns:a="http://schemas.openxmlformats.org/drawingml/2006/main">
            <a:pPr>
              <a:defRPr sz="2775" b="1">
                <a:solidFill>
                  <a:srgbClr val="203E30"/>
                </a:solidFill>
                <a:latin typeface="Calibri"/>
                <a:ea typeface="Calibri"/>
                <a:cs typeface="Calibri"/>
              </a:defRPr>
            </a:pPr>
            <a:r>
              <a:rPr sz="2775" b="1">
                <a:solidFill>
                  <a:srgbClr val="203E30"/>
                </a:solidFill>
                <a:latin typeface="Calibri"/>
                <a:ea typeface="Calibri"/>
                <a:cs typeface="Calibri"/>
              </a:rPr>
              <a:t>Перевірка</a:t>
            </a:r>
          </a:p>
        </p:txBody>
      </p:sp>
      <p:sp>
        <p:nvSpPr>
          <p:cNvPr id="11" name="">
            <a:extLst xmlns:a="http://schemas.openxmlformats.org/drawingml/2006/main">
              <a:ext uri="{FF2B5EF4-FFF2-40B4-BE49-F238E27FC236}">
                <a16:creationId xmlns:a16="http://schemas.microsoft.com/office/drawing/2014/main" id="{717CED5D-5542-43E8-AC0E-9E58FA8E94FF}"/>
              </a:ext>
            </a:extLst>
          </p:cNvPr>
          <p:cNvSpPr>
            <a:spLocks xmlns:a="http://schemas.openxmlformats.org/drawingml/2006/main" noGrp="1"/>
          </p:cNvSpPr>
          <p:nvPr/>
        </p:nvSpPr>
        <p:spPr>
          <a:xfrm xmlns:a="http://schemas.openxmlformats.org/drawingml/2006/main">
            <a:off x="4352925" y="4381500"/>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Підтвердьте деталі</a:t>
            </a:r>
          </a:p>
        </p:txBody>
      </p:sp>
      <p:sp>
        <p:nvSpPr>
          <p:cNvPr id="12" name="">
            <a:extLst xmlns:a="http://schemas.openxmlformats.org/drawingml/2006/main">
              <a:ext uri="{FF2B5EF4-FFF2-40B4-BE49-F238E27FC236}">
                <a16:creationId xmlns:a16="http://schemas.microsoft.com/office/drawing/2014/main" id="{B6BBD215-8907-4148-91C0-B80D870E1948}"/>
              </a:ext>
            </a:extLst>
          </p:cNvPr>
          <p:cNvSpPr>
            <a:spLocks xmlns:a="http://schemas.openxmlformats.org/drawingml/2006/main" noGrp="1"/>
          </p:cNvSpPr>
          <p:nvPr/>
        </p:nvSpPr>
        <p:spPr>
          <a:xfrm xmlns:a="http://schemas.openxmlformats.org/drawingml/2006/main">
            <a:off x="8096250" y="2143125"/>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5850" b="1">
                <a:solidFill>
                  <a:srgbClr val="285B43"/>
                </a:solidFill>
                <a:latin typeface="Calibri"/>
                <a:ea typeface="Calibri"/>
                <a:cs typeface="Calibri"/>
              </a:defRPr>
            </a:defPPr>
          </a:lstStyle>
          <a:p xmlns:a="http://schemas.openxmlformats.org/drawingml/2006/main">
            <a:pPr>
              <a:defRPr sz="5850" b="1">
                <a:solidFill>
                  <a:srgbClr val="285B43"/>
                </a:solidFill>
                <a:latin typeface="Calibri"/>
                <a:ea typeface="Calibri"/>
                <a:cs typeface="Calibri"/>
              </a:defRPr>
            </a:pPr>
            <a:r>
              <a:rPr sz="5850" b="1">
                <a:solidFill>
                  <a:srgbClr val="285B43"/>
                </a:solidFill>
                <a:latin typeface="Calibri"/>
                <a:ea typeface="Calibri"/>
                <a:cs typeface="Calibri"/>
              </a:rPr>
              <a:t>03</a:t>
            </a:r>
          </a:p>
        </p:txBody>
      </p:sp>
      <p:sp>
        <p:nvSpPr>
          <p:cNvPr id="13" name="">
            <a:extLst xmlns:a="http://schemas.openxmlformats.org/drawingml/2006/main">
              <a:ext uri="{FF2B5EF4-FFF2-40B4-BE49-F238E27FC236}">
                <a16:creationId xmlns:a16="http://schemas.microsoft.com/office/drawing/2014/main" id="{4EC8EB54-8489-466A-8BEA-4DFCDFEEDC69}"/>
              </a:ext>
            </a:extLst>
          </p:cNvPr>
          <p:cNvSpPr>
            <a:spLocks xmlns:a="http://schemas.openxmlformats.org/drawingml/2006/main" noGrp="1"/>
          </p:cNvSpPr>
          <p:nvPr/>
        </p:nvSpPr>
        <p:spPr>
          <a:xfrm xmlns:a="http://schemas.openxmlformats.org/drawingml/2006/main">
            <a:off x="8096250" y="3314700"/>
            <a:ext cx="3238500" cy="28575"/>
          </a:xfrm>
          <a:prstGeom xmlns:a="http://schemas.openxmlformats.org/drawingml/2006/main" prst="rect">
            <a:avLst/>
          </a:prstGeom>
          <a:solidFill xmlns:a="http://schemas.openxmlformats.org/drawingml/2006/main">
            <a:srgbClr val="CED8C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CC481B1-9537-4391-B581-689676D79CC9}"/>
              </a:ext>
            </a:extLst>
          </p:cNvPr>
          <p:cNvSpPr>
            <a:spLocks xmlns:a="http://schemas.openxmlformats.org/drawingml/2006/main" noGrp="1"/>
          </p:cNvSpPr>
          <p:nvPr/>
        </p:nvSpPr>
        <p:spPr>
          <a:xfrm xmlns:a="http://schemas.openxmlformats.org/drawingml/2006/main">
            <a:off x="8096250" y="360045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775" b="1">
                <a:solidFill>
                  <a:srgbClr val="203E30"/>
                </a:solidFill>
                <a:latin typeface="Calibri"/>
                <a:ea typeface="Calibri"/>
                <a:cs typeface="Calibri"/>
              </a:defRPr>
            </a:defPPr>
          </a:lstStyle>
          <a:p xmlns:a="http://schemas.openxmlformats.org/drawingml/2006/main">
            <a:pPr>
              <a:defRPr sz="2775" b="1">
                <a:solidFill>
                  <a:srgbClr val="203E30"/>
                </a:solidFill>
                <a:latin typeface="Calibri"/>
                <a:ea typeface="Calibri"/>
                <a:cs typeface="Calibri"/>
              </a:defRPr>
            </a:pPr>
            <a:r>
              <a:rPr sz="2775" b="1">
                <a:solidFill>
                  <a:srgbClr val="203E30"/>
                </a:solidFill>
                <a:latin typeface="Calibri"/>
                <a:ea typeface="Calibri"/>
                <a:cs typeface="Calibri"/>
              </a:rPr>
              <a:t>Результат</a:t>
            </a:r>
          </a:p>
        </p:txBody>
      </p:sp>
      <p:sp>
        <p:nvSpPr>
          <p:cNvPr id="15" name="">
            <a:extLst xmlns:a="http://schemas.openxmlformats.org/drawingml/2006/main">
              <a:ext uri="{FF2B5EF4-FFF2-40B4-BE49-F238E27FC236}">
                <a16:creationId xmlns:a16="http://schemas.microsoft.com/office/drawing/2014/main" id="{A2A9CFED-2866-4594-A98D-8C923D85D77F}"/>
              </a:ext>
            </a:extLst>
          </p:cNvPr>
          <p:cNvSpPr>
            <a:spLocks xmlns:a="http://schemas.openxmlformats.org/drawingml/2006/main" noGrp="1"/>
          </p:cNvSpPr>
          <p:nvPr/>
        </p:nvSpPr>
        <p:spPr>
          <a:xfrm xmlns:a="http://schemas.openxmlformats.org/drawingml/2006/main">
            <a:off x="8096250" y="4381500"/>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Перегляньте й виправте</a:t>
            </a:r>
          </a:p>
        </p:txBody>
      </p:sp>
    </p:spTree>
    <p:extLst>
      <p:ext uri="{BB962C8B-B14F-4D97-AF65-F5344CB8AC3E}">
        <p14:creationId xmlns:p14="http://schemas.microsoft.com/office/powerpoint/2010/main" val="1642839131"/>
      </p:ext>
    </p:extLst>
  </p:cSld>
</p:sld>
</file>

<file path=ppt/slides/slide6.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7" name="placeholder_1">
            <a:extLst xmlns:a="http://schemas.openxmlformats.org/drawingml/2006/main">
              <a:ext uri="{FF2B5EF4-FFF2-40B4-BE49-F238E27FC236}">
                <a16:creationId xmlns:a16="http://schemas.microsoft.com/office/drawing/2014/main" id="{5CF9EC5F-2BEF-48A1-AD46-9098AAB4446A}"/>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Ринкові оцінки вказують на потенціал вузького старту</a:t>
            </a:r>
          </a:p>
        </p:txBody>
      </p:sp>
      <p:sp>
        <p:nvSpPr>
          <p:cNvPr id="2" name="">
            <a:extLst xmlns:a="http://schemas.openxmlformats.org/drawingml/2006/main">
              <a:ext uri="{FF2B5EF4-FFF2-40B4-BE49-F238E27FC236}">
                <a16:creationId xmlns:a16="http://schemas.microsoft.com/office/drawing/2014/main" id="{204A7951-C9B9-46E0-8C35-4243349B4540}"/>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ECCBC503-FB28-4530-8E23-D38284432765}"/>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761698B6-3CC6-4B1E-B1A0-B4CCE1817DAB}"/>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Оцінки з брифу, не незалежне дослідження. Схема не в масштабі.</a:t>
            </a:r>
          </a:p>
        </p:txBody>
      </p:sp>
      <p:sp>
        <p:nvSpPr>
          <p:cNvPr id="5" name="">
            <a:extLst xmlns:a="http://schemas.openxmlformats.org/drawingml/2006/main">
              <a:ext uri="{FF2B5EF4-FFF2-40B4-BE49-F238E27FC236}">
                <a16:creationId xmlns:a16="http://schemas.microsoft.com/office/drawing/2014/main" id="{6C0EA746-CE1C-4842-9ED0-82BACF03B3FF}"/>
              </a:ext>
            </a:extLst>
          </p:cNvPr>
          <p:cNvSpPr>
            <a:spLocks xmlns:a="http://schemas.openxmlformats.org/drawingml/2006/main" noGrp="1"/>
          </p:cNvSpPr>
          <p:nvPr/>
        </p:nvSpPr>
        <p:spPr>
          <a:xfrm xmlns:a="http://schemas.openxmlformats.org/drawingml/2006/main">
            <a:off x="609600" y="2047875"/>
            <a:ext cx="10820400" cy="952500"/>
          </a:xfrm>
          <a:prstGeom xmlns:a="http://schemas.openxmlformats.org/drawingml/2006/main" prst="rect">
            <a:avLst/>
          </a:prstGeom>
          <a:solidFill xmlns:a="http://schemas.openxmlformats.org/drawingml/2006/main">
            <a:srgbClr val="E5ECD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409A126-CFB7-44A5-9EFA-76F21D18F97D}"/>
              </a:ext>
            </a:extLst>
          </p:cNvPr>
          <p:cNvSpPr>
            <a:spLocks xmlns:a="http://schemas.openxmlformats.org/drawingml/2006/main" noGrp="1"/>
          </p:cNvSpPr>
          <p:nvPr/>
        </p:nvSpPr>
        <p:spPr>
          <a:xfrm xmlns:a="http://schemas.openxmlformats.org/drawingml/2006/main">
            <a:off x="819150" y="2200275"/>
            <a:ext cx="123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203E30"/>
                </a:solidFill>
                <a:latin typeface="Calibri"/>
                <a:ea typeface="Calibri"/>
                <a:cs typeface="Calibri"/>
              </a:defRPr>
            </a:defPPr>
          </a:lstStyle>
          <a:p xmlns:a="http://schemas.openxmlformats.org/drawingml/2006/main">
            <a:pPr>
              <a:defRPr sz="2100" b="1">
                <a:solidFill>
                  <a:srgbClr val="203E30"/>
                </a:solidFill>
                <a:latin typeface="Calibri"/>
                <a:ea typeface="Calibri"/>
                <a:cs typeface="Calibri"/>
              </a:defRPr>
            </a:pPr>
            <a:r>
              <a:rPr sz="2100" b="1">
                <a:solidFill>
                  <a:srgbClr val="203E30"/>
                </a:solidFill>
                <a:latin typeface="Calibri"/>
                <a:ea typeface="Calibri"/>
                <a:cs typeface="Calibri"/>
              </a:rPr>
              <a:t>TAM</a:t>
            </a:r>
          </a:p>
        </p:txBody>
      </p:sp>
      <p:sp>
        <p:nvSpPr>
          <p:cNvPr id="7" name="">
            <a:extLst xmlns:a="http://schemas.openxmlformats.org/drawingml/2006/main">
              <a:ext uri="{FF2B5EF4-FFF2-40B4-BE49-F238E27FC236}">
                <a16:creationId xmlns:a16="http://schemas.microsoft.com/office/drawing/2014/main" id="{13B1B09F-5BD4-4B5A-BF9F-19FFE6FC0E19}"/>
              </a:ext>
            </a:extLst>
          </p:cNvPr>
          <p:cNvSpPr>
            <a:spLocks xmlns:a="http://schemas.openxmlformats.org/drawingml/2006/main" noGrp="1"/>
          </p:cNvSpPr>
          <p:nvPr/>
        </p:nvSpPr>
        <p:spPr>
          <a:xfrm xmlns:a="http://schemas.openxmlformats.org/drawingml/2006/main">
            <a:off x="2190750" y="2200275"/>
            <a:ext cx="276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000" b="1">
                <a:solidFill>
                  <a:srgbClr val="203E30"/>
                </a:solidFill>
                <a:latin typeface="Calibri"/>
                <a:ea typeface="Calibri"/>
                <a:cs typeface="Calibri"/>
              </a:defRPr>
            </a:defPPr>
          </a:lstStyle>
          <a:p xmlns:a="http://schemas.openxmlformats.org/drawingml/2006/main">
            <a:pPr>
              <a:defRPr sz="3000" b="1">
                <a:solidFill>
                  <a:srgbClr val="203E30"/>
                </a:solidFill>
                <a:latin typeface="Calibri"/>
                <a:ea typeface="Calibri"/>
                <a:cs typeface="Calibri"/>
              </a:defRPr>
            </a:pPr>
            <a:r>
              <a:rPr sz="3000" b="1">
                <a:solidFill>
                  <a:srgbClr val="203E30"/>
                </a:solidFill>
                <a:latin typeface="Calibri"/>
                <a:ea typeface="Calibri"/>
                <a:cs typeface="Calibri"/>
              </a:rPr>
              <a:t>$50+ млрд</a:t>
            </a:r>
          </a:p>
        </p:txBody>
      </p:sp>
      <p:sp>
        <p:nvSpPr>
          <p:cNvPr id="8" name="">
            <a:extLst xmlns:a="http://schemas.openxmlformats.org/drawingml/2006/main">
              <a:ext uri="{FF2B5EF4-FFF2-40B4-BE49-F238E27FC236}">
                <a16:creationId xmlns:a16="http://schemas.microsoft.com/office/drawing/2014/main" id="{B57DEADA-A742-4D2D-BBFC-4FC77696B881}"/>
              </a:ext>
            </a:extLst>
          </p:cNvPr>
          <p:cNvSpPr>
            <a:spLocks xmlns:a="http://schemas.openxmlformats.org/drawingml/2006/main" noGrp="1"/>
          </p:cNvSpPr>
          <p:nvPr/>
        </p:nvSpPr>
        <p:spPr>
          <a:xfrm xmlns:a="http://schemas.openxmlformats.org/drawingml/2006/main">
            <a:off x="5238750" y="2200275"/>
            <a:ext cx="5962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203E30"/>
                </a:solidFill>
                <a:latin typeface="Arial"/>
                <a:ea typeface="Arial"/>
                <a:cs typeface="Arial"/>
              </a:defRPr>
            </a:defPPr>
          </a:lstStyle>
          <a:p xmlns:a="http://schemas.openxmlformats.org/drawingml/2006/main">
            <a:pPr>
              <a:defRPr sz="1800" b="0">
                <a:solidFill>
                  <a:srgbClr val="203E30"/>
                </a:solidFill>
                <a:latin typeface="Arial"/>
                <a:ea typeface="Arial"/>
                <a:cs typeface="Arial"/>
              </a:defRPr>
            </a:pPr>
            <a:r>
              <a:rPr sz="1800" b="0">
                <a:solidFill>
                  <a:srgbClr val="203E30"/>
                </a:solidFill>
                <a:latin typeface="Arial"/>
                <a:ea typeface="Arial"/>
                <a:cs typeface="Arial"/>
              </a:rPr>
              <a:t>ПЗ для малого бізнесу</a:t>
            </a:r>
          </a:p>
        </p:txBody>
      </p:sp>
      <p:sp>
        <p:nvSpPr>
          <p:cNvPr id="9" name="">
            <a:extLst xmlns:a="http://schemas.openxmlformats.org/drawingml/2006/main">
              <a:ext uri="{FF2B5EF4-FFF2-40B4-BE49-F238E27FC236}">
                <a16:creationId xmlns:a16="http://schemas.microsoft.com/office/drawing/2014/main" id="{D7E420BA-5CCC-4637-87C8-8AEBE80A57C5}"/>
              </a:ext>
            </a:extLst>
          </p:cNvPr>
          <p:cNvSpPr>
            <a:spLocks xmlns:a="http://schemas.openxmlformats.org/drawingml/2006/main" noGrp="1"/>
          </p:cNvSpPr>
          <p:nvPr/>
        </p:nvSpPr>
        <p:spPr>
          <a:xfrm xmlns:a="http://schemas.openxmlformats.org/drawingml/2006/main">
            <a:off x="609600" y="3190875"/>
            <a:ext cx="8477250" cy="952500"/>
          </a:xfrm>
          <a:prstGeom xmlns:a="http://schemas.openxmlformats.org/drawingml/2006/main" prst="rect">
            <a:avLst/>
          </a:prstGeom>
          <a:solidFill xmlns:a="http://schemas.openxmlformats.org/drawingml/2006/main">
            <a:srgbClr val="C6D6B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ACA4B5B-B911-4781-96D1-87BBA713D19B}"/>
              </a:ext>
            </a:extLst>
          </p:cNvPr>
          <p:cNvSpPr>
            <a:spLocks xmlns:a="http://schemas.openxmlformats.org/drawingml/2006/main" noGrp="1"/>
          </p:cNvSpPr>
          <p:nvPr/>
        </p:nvSpPr>
        <p:spPr>
          <a:xfrm xmlns:a="http://schemas.openxmlformats.org/drawingml/2006/main">
            <a:off x="819150" y="3343275"/>
            <a:ext cx="123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203E30"/>
                </a:solidFill>
                <a:latin typeface="Calibri"/>
                <a:ea typeface="Calibri"/>
                <a:cs typeface="Calibri"/>
              </a:defRPr>
            </a:defPPr>
          </a:lstStyle>
          <a:p xmlns:a="http://schemas.openxmlformats.org/drawingml/2006/main">
            <a:pPr>
              <a:defRPr sz="2100" b="1">
                <a:solidFill>
                  <a:srgbClr val="203E30"/>
                </a:solidFill>
                <a:latin typeface="Calibri"/>
                <a:ea typeface="Calibri"/>
                <a:cs typeface="Calibri"/>
              </a:defRPr>
            </a:pPr>
            <a:r>
              <a:rPr sz="2100" b="1">
                <a:solidFill>
                  <a:srgbClr val="203E30"/>
                </a:solidFill>
                <a:latin typeface="Calibri"/>
                <a:ea typeface="Calibri"/>
                <a:cs typeface="Calibri"/>
              </a:rPr>
              <a:t>SAM</a:t>
            </a:r>
          </a:p>
        </p:txBody>
      </p:sp>
      <p:sp>
        <p:nvSpPr>
          <p:cNvPr id="11" name="">
            <a:extLst xmlns:a="http://schemas.openxmlformats.org/drawingml/2006/main">
              <a:ext uri="{FF2B5EF4-FFF2-40B4-BE49-F238E27FC236}">
                <a16:creationId xmlns:a16="http://schemas.microsoft.com/office/drawing/2014/main" id="{27AA6DB8-3F84-4256-B359-50B739151F64}"/>
              </a:ext>
            </a:extLst>
          </p:cNvPr>
          <p:cNvSpPr>
            <a:spLocks xmlns:a="http://schemas.openxmlformats.org/drawingml/2006/main" noGrp="1"/>
          </p:cNvSpPr>
          <p:nvPr/>
        </p:nvSpPr>
        <p:spPr>
          <a:xfrm xmlns:a="http://schemas.openxmlformats.org/drawingml/2006/main">
            <a:off x="2190750" y="3343275"/>
            <a:ext cx="276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000" b="1">
                <a:solidFill>
                  <a:srgbClr val="203E30"/>
                </a:solidFill>
                <a:latin typeface="Calibri"/>
                <a:ea typeface="Calibri"/>
                <a:cs typeface="Calibri"/>
              </a:defRPr>
            </a:defPPr>
          </a:lstStyle>
          <a:p xmlns:a="http://schemas.openxmlformats.org/drawingml/2006/main">
            <a:pPr>
              <a:defRPr sz="3000" b="1">
                <a:solidFill>
                  <a:srgbClr val="203E30"/>
                </a:solidFill>
                <a:latin typeface="Calibri"/>
                <a:ea typeface="Calibri"/>
                <a:cs typeface="Calibri"/>
              </a:defRPr>
            </a:pPr>
            <a:r>
              <a:rPr sz="3000" b="1">
                <a:solidFill>
                  <a:srgbClr val="203E30"/>
                </a:solidFill>
                <a:latin typeface="Calibri"/>
                <a:ea typeface="Calibri"/>
                <a:cs typeface="Calibri"/>
              </a:rPr>
              <a:t>$3–5 млрд</a:t>
            </a:r>
          </a:p>
        </p:txBody>
      </p:sp>
      <p:sp>
        <p:nvSpPr>
          <p:cNvPr id="12" name="">
            <a:extLst xmlns:a="http://schemas.openxmlformats.org/drawingml/2006/main">
              <a:ext uri="{FF2B5EF4-FFF2-40B4-BE49-F238E27FC236}">
                <a16:creationId xmlns:a16="http://schemas.microsoft.com/office/drawing/2014/main" id="{E8862284-F5A7-4061-AC75-454DD20C4750}"/>
              </a:ext>
            </a:extLst>
          </p:cNvPr>
          <p:cNvSpPr>
            <a:spLocks xmlns:a="http://schemas.openxmlformats.org/drawingml/2006/main" noGrp="1"/>
          </p:cNvSpPr>
          <p:nvPr/>
        </p:nvSpPr>
        <p:spPr>
          <a:xfrm xmlns:a="http://schemas.openxmlformats.org/drawingml/2006/main">
            <a:off x="5238750" y="3343275"/>
            <a:ext cx="361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203E30"/>
                </a:solidFill>
                <a:latin typeface="Arial"/>
                <a:ea typeface="Arial"/>
                <a:cs typeface="Arial"/>
              </a:defRPr>
            </a:defPPr>
          </a:lstStyle>
          <a:p xmlns:a="http://schemas.openxmlformats.org/drawingml/2006/main">
            <a:pPr>
              <a:defRPr sz="1800" b="0">
                <a:solidFill>
                  <a:srgbClr val="203E30"/>
                </a:solidFill>
                <a:latin typeface="Arial"/>
                <a:ea typeface="Arial"/>
                <a:cs typeface="Arial"/>
              </a:defRPr>
            </a:pPr>
            <a:r>
              <a:rPr sz="1800" b="0">
                <a:solidFill>
                  <a:srgbClr val="203E30"/>
                </a:solidFill>
                <a:latin typeface="Arial"/>
                <a:ea typeface="Arial"/>
                <a:cs typeface="Arial"/>
              </a:rPr>
              <a:t>Мікробізнес і AI</a:t>
            </a:r>
          </a:p>
        </p:txBody>
      </p:sp>
      <p:sp>
        <p:nvSpPr>
          <p:cNvPr id="13" name="">
            <a:extLst xmlns:a="http://schemas.openxmlformats.org/drawingml/2006/main">
              <a:ext uri="{FF2B5EF4-FFF2-40B4-BE49-F238E27FC236}">
                <a16:creationId xmlns:a16="http://schemas.microsoft.com/office/drawing/2014/main" id="{304A4E5A-0F88-4A0E-BC9A-A3CEE63F010A}"/>
              </a:ext>
            </a:extLst>
          </p:cNvPr>
          <p:cNvSpPr>
            <a:spLocks xmlns:a="http://schemas.openxmlformats.org/drawingml/2006/main" noGrp="1"/>
          </p:cNvSpPr>
          <p:nvPr/>
        </p:nvSpPr>
        <p:spPr>
          <a:xfrm xmlns:a="http://schemas.openxmlformats.org/drawingml/2006/main">
            <a:off x="609600" y="4333875"/>
            <a:ext cx="7524750" cy="952500"/>
          </a:xfrm>
          <a:prstGeom xmlns:a="http://schemas.openxmlformats.org/drawingml/2006/main" prst="rect">
            <a:avLst/>
          </a:prstGeom>
          <a:solidFill xmlns:a="http://schemas.openxmlformats.org/drawingml/2006/main">
            <a:srgbClr val="285B4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8B940DB-282E-4CB6-AB16-4AEC9233E307}"/>
              </a:ext>
            </a:extLst>
          </p:cNvPr>
          <p:cNvSpPr>
            <a:spLocks xmlns:a="http://schemas.openxmlformats.org/drawingml/2006/main" noGrp="1"/>
          </p:cNvSpPr>
          <p:nvPr/>
        </p:nvSpPr>
        <p:spPr>
          <a:xfrm xmlns:a="http://schemas.openxmlformats.org/drawingml/2006/main">
            <a:off x="819150" y="4486275"/>
            <a:ext cx="123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FFFFFF"/>
                </a:solidFill>
                <a:latin typeface="Calibri"/>
                <a:ea typeface="Calibri"/>
                <a:cs typeface="Calibri"/>
              </a:defRPr>
            </a:defPPr>
          </a:lstStyle>
          <a:p xmlns:a="http://schemas.openxmlformats.org/drawingml/2006/main">
            <a:pPr>
              <a:defRPr sz="2100" b="1">
                <a:solidFill>
                  <a:srgbClr val="FFFFFF"/>
                </a:solidFill>
                <a:latin typeface="Calibri"/>
                <a:ea typeface="Calibri"/>
                <a:cs typeface="Calibri"/>
              </a:defRPr>
            </a:pPr>
            <a:r>
              <a:rPr sz="2100" b="1">
                <a:solidFill>
                  <a:srgbClr val="FFFFFF"/>
                </a:solidFill>
                <a:latin typeface="Calibri"/>
                <a:ea typeface="Calibri"/>
                <a:cs typeface="Calibri"/>
              </a:rPr>
              <a:t>SOM</a:t>
            </a:r>
          </a:p>
        </p:txBody>
      </p:sp>
      <p:sp>
        <p:nvSpPr>
          <p:cNvPr id="15" name="">
            <a:extLst xmlns:a="http://schemas.openxmlformats.org/drawingml/2006/main">
              <a:ext uri="{FF2B5EF4-FFF2-40B4-BE49-F238E27FC236}">
                <a16:creationId xmlns:a16="http://schemas.microsoft.com/office/drawing/2014/main" id="{2A27B05F-05A0-4D5D-9EA3-7D0A04BB3EDF}"/>
              </a:ext>
            </a:extLst>
          </p:cNvPr>
          <p:cNvSpPr>
            <a:spLocks xmlns:a="http://schemas.openxmlformats.org/drawingml/2006/main" noGrp="1"/>
          </p:cNvSpPr>
          <p:nvPr/>
        </p:nvSpPr>
        <p:spPr>
          <a:xfrm xmlns:a="http://schemas.openxmlformats.org/drawingml/2006/main">
            <a:off x="2190750" y="4486275"/>
            <a:ext cx="276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000" b="1">
                <a:solidFill>
                  <a:srgbClr val="FFFFFF"/>
                </a:solidFill>
                <a:latin typeface="Calibri"/>
                <a:ea typeface="Calibri"/>
                <a:cs typeface="Calibri"/>
              </a:defRPr>
            </a:defPPr>
          </a:lstStyle>
          <a:p xmlns:a="http://schemas.openxmlformats.org/drawingml/2006/main">
            <a:pPr>
              <a:defRPr sz="3000" b="1">
                <a:solidFill>
                  <a:srgbClr val="FFFFFF"/>
                </a:solidFill>
                <a:latin typeface="Calibri"/>
                <a:ea typeface="Calibri"/>
                <a:cs typeface="Calibri"/>
              </a:defRPr>
            </a:pPr>
            <a:r>
              <a:rPr sz="3000" b="1">
                <a:solidFill>
                  <a:srgbClr val="FFFFFF"/>
                </a:solidFill>
                <a:latin typeface="Calibri"/>
                <a:ea typeface="Calibri"/>
                <a:cs typeface="Calibri"/>
              </a:rPr>
              <a:t>$5–10 млн</a:t>
            </a:r>
          </a:p>
        </p:txBody>
      </p:sp>
      <p:sp>
        <p:nvSpPr>
          <p:cNvPr id="16" name="">
            <a:extLst xmlns:a="http://schemas.openxmlformats.org/drawingml/2006/main">
              <a:ext uri="{FF2B5EF4-FFF2-40B4-BE49-F238E27FC236}">
                <a16:creationId xmlns:a16="http://schemas.microsoft.com/office/drawing/2014/main" id="{FD6871DE-A40B-4738-80FE-FA52E659C482}"/>
              </a:ext>
            </a:extLst>
          </p:cNvPr>
          <p:cNvSpPr>
            <a:spLocks xmlns:a="http://schemas.openxmlformats.org/drawingml/2006/main" noGrp="1"/>
          </p:cNvSpPr>
          <p:nvPr/>
        </p:nvSpPr>
        <p:spPr>
          <a:xfrm xmlns:a="http://schemas.openxmlformats.org/drawingml/2006/main">
            <a:off x="5238750" y="4486275"/>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FFFFF"/>
                </a:solidFill>
                <a:latin typeface="Arial"/>
                <a:ea typeface="Arial"/>
                <a:cs typeface="Arial"/>
              </a:defRPr>
            </a:defPPr>
          </a:lstStyle>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Ціль ARR за 3 роки</a:t>
            </a:r>
          </a:p>
        </p:txBody>
      </p:sp>
    </p:spTree>
    <p:extLst>
      <p:ext uri="{BB962C8B-B14F-4D97-AF65-F5344CB8AC3E}">
        <p14:creationId xmlns:p14="http://schemas.microsoft.com/office/powerpoint/2010/main" val="994197975"/>
      </p:ext>
    </p:extLst>
  </p:cSld>
</p:sld>
</file>

<file path=ppt/slides/slide7.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8" name="placeholder_1">
            <a:extLst xmlns:a="http://schemas.openxmlformats.org/drawingml/2006/main">
              <a:ext uri="{FF2B5EF4-FFF2-40B4-BE49-F238E27FC236}">
                <a16:creationId xmlns:a16="http://schemas.microsoft.com/office/drawing/2014/main" id="{5CF9EC5F-2BEF-48A1-AD46-9098AAB4446A}"/>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Підписка має стати основою повторюваного доходу</a:t>
            </a:r>
          </a:p>
        </p:txBody>
      </p:sp>
      <p:sp>
        <p:nvSpPr>
          <p:cNvPr id="2" name="">
            <a:extLst xmlns:a="http://schemas.openxmlformats.org/drawingml/2006/main">
              <a:ext uri="{FF2B5EF4-FFF2-40B4-BE49-F238E27FC236}">
                <a16:creationId xmlns:a16="http://schemas.microsoft.com/office/drawing/2014/main" id="{E264FB89-CC0E-45EE-B8BA-FF11DDA090DB}"/>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FCAF247A-2907-4F97-801E-A170BAA4858D}"/>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4F0200EF-CCF0-4702-BD25-BE3719FE20C9}"/>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Попередні ціни, USD/місяць. Додаткові доходи не включено в прогноз.</a:t>
            </a:r>
          </a:p>
        </p:txBody>
      </p:sp>
      <p:graphicFrame>
        <p:nvGraphicFramePr>
          <p:cNvPr id="5" name="">
            <a:extLst xmlns:a="http://schemas.openxmlformats.org/drawingml/2006/main">
              <a:ext uri="{FF2B5EF4-FFF2-40B4-BE49-F238E27FC236}">
                <a16:creationId xmlns:a16="http://schemas.microsoft.com/office/drawing/2014/main" id="{0EFB58D7-07DF-4868-A7F4-1425458CD833}"/>
              </a:ext>
            </a:extLst>
          </p:cNvPr>
          <p:cNvGraphicFramePr/>
          <p:nvPr/>
        </p:nvGraphicFramePr>
        <p:xfrm>
          <a:off xmlns:a="http://schemas.openxmlformats.org/drawingml/2006/main" x="609600" y="2047875"/>
          <a:ext xmlns:a="http://schemas.openxmlformats.org/drawingml/2006/main" cx="10972800" cy="2286000"/>
        </p:xfrm>
        <a:graphic xmlns:a="http://schemas.openxmlformats.org/drawingml/2006/main">
          <a:graphicData uri="http://schemas.openxmlformats.org/drawingml/2006/table">
            <a:tbl>
              <a:tblPr/>
              <a:tblGrid>
                <a:gridCol w="2743200"/>
                <a:gridCol w="2743200"/>
                <a:gridCol w="2743200"/>
                <a:gridCol w="2743200"/>
              </a:tblGrid>
              <a:tr h="762000">
                <a:tc>
                  <a:txBody>
                    <a:bodyPr/>
                    <a:lstStyle/>
                    <a:p>
                      <a:r>
                        <a:rPr sz="1800" b="1">
                          <a:solidFill>
                            <a:srgbClr val="FFFFFF"/>
                          </a:solidFill>
                          <a:latin typeface="Arial"/>
                          <a:ea typeface="Arial"/>
                          <a:cs typeface="Arial"/>
                        </a:rPr>
                        <a:t>Free</a:t>
                      </a:r>
                    </a:p>
                  </a:txBody>
                  <a:tcPr marL="152400" marR="114300" marT="114300" marB="114300">
                    <a:lnL w="9525">
                      <a:solidFill>
                        <a:srgbClr val="CED8C7"/>
                      </a:solidFill>
                    </a:lnL>
                    <a:lnR w="9525">
                      <a:solidFill>
                        <a:srgbClr val="CED8C7"/>
                      </a:solidFill>
                    </a:lnR>
                    <a:lnT w="9525">
                      <a:solidFill>
                        <a:srgbClr val="CED8C7"/>
                      </a:solidFill>
                    </a:lnT>
                    <a:lnB w="9525">
                      <a:solidFill>
                        <a:srgbClr val="CED8C7"/>
                      </a:solidFill>
                    </a:lnB>
                    <a:solidFill>
                      <a:srgbClr val="285B43"/>
                    </a:solidFill>
                  </a:tcPr>
                </a:tc>
                <a:tc>
                  <a:txBody>
                    <a:bodyPr/>
                    <a:lstStyle/>
                    <a:p>
                      <a:r>
                        <a:rPr sz="1800" b="1">
                          <a:solidFill>
                            <a:srgbClr val="FFFFFF"/>
                          </a:solidFill>
                          <a:latin typeface="Arial"/>
                          <a:ea typeface="Arial"/>
                          <a:cs typeface="Arial"/>
                        </a:rPr>
                        <a:t>Starter</a:t>
                      </a:r>
                    </a:p>
                  </a:txBody>
                  <a:tcPr marL="152400" marR="114300" marT="114300" marB="114300">
                    <a:lnR w="9525">
                      <a:solidFill>
                        <a:srgbClr val="CED8C7"/>
                      </a:solidFill>
                    </a:lnR>
                    <a:lnT w="9525">
                      <a:solidFill>
                        <a:srgbClr val="CED8C7"/>
                      </a:solidFill>
                    </a:lnT>
                    <a:lnB w="9525">
                      <a:solidFill>
                        <a:srgbClr val="CED8C7"/>
                      </a:solidFill>
                    </a:lnB>
                    <a:solidFill>
                      <a:srgbClr val="285B43"/>
                    </a:solidFill>
                  </a:tcPr>
                </a:tc>
                <a:tc>
                  <a:txBody>
                    <a:bodyPr/>
                    <a:lstStyle/>
                    <a:p>
                      <a:r>
                        <a:rPr sz="1800" b="1">
                          <a:solidFill>
                            <a:srgbClr val="FFFFFF"/>
                          </a:solidFill>
                          <a:latin typeface="Arial"/>
                          <a:ea typeface="Arial"/>
                          <a:cs typeface="Arial"/>
                        </a:rPr>
                        <a:t>Pro</a:t>
                      </a:r>
                    </a:p>
                  </a:txBody>
                  <a:tcPr marL="152400" marR="114300" marT="114300" marB="114300">
                    <a:lnR w="9525">
                      <a:solidFill>
                        <a:srgbClr val="CED8C7"/>
                      </a:solidFill>
                    </a:lnR>
                    <a:lnT w="9525">
                      <a:solidFill>
                        <a:srgbClr val="CED8C7"/>
                      </a:solidFill>
                    </a:lnT>
                    <a:lnB w="9525">
                      <a:solidFill>
                        <a:srgbClr val="CED8C7"/>
                      </a:solidFill>
                    </a:lnB>
                    <a:solidFill>
                      <a:srgbClr val="285B43"/>
                    </a:solidFill>
                  </a:tcPr>
                </a:tc>
                <a:tc>
                  <a:txBody>
                    <a:bodyPr/>
                    <a:lstStyle/>
                    <a:p>
                      <a:r>
                        <a:rPr sz="1800" b="1">
                          <a:solidFill>
                            <a:srgbClr val="FFFFFF"/>
                          </a:solidFill>
                          <a:latin typeface="Arial"/>
                          <a:ea typeface="Arial"/>
                          <a:cs typeface="Arial"/>
                        </a:rPr>
                        <a:t>Business</a:t>
                      </a:r>
                    </a:p>
                  </a:txBody>
                  <a:tcPr marL="152400" marR="114300" marT="114300" marB="114300">
                    <a:lnR w="9525">
                      <a:solidFill>
                        <a:srgbClr val="CED8C7"/>
                      </a:solidFill>
                    </a:lnR>
                    <a:lnT w="9525">
                      <a:solidFill>
                        <a:srgbClr val="CED8C7"/>
                      </a:solidFill>
                    </a:lnT>
                    <a:lnB w="9525">
                      <a:solidFill>
                        <a:srgbClr val="CED8C7"/>
                      </a:solidFill>
                    </a:lnB>
                    <a:solidFill>
                      <a:srgbClr val="285B43"/>
                    </a:solidFill>
                  </a:tcPr>
                </a:tc>
              </a:tr>
              <a:tr h="762000">
                <a:tc>
                  <a:txBody>
                    <a:bodyPr/>
                    <a:lstStyle/>
                    <a:p>
                      <a:r>
                        <a:rPr sz="1800" b="0">
                          <a:solidFill>
                            <a:srgbClr val="203E30"/>
                          </a:solidFill>
                          <a:latin typeface="Arial"/>
                          <a:ea typeface="Arial"/>
                          <a:cs typeface="Arial"/>
                        </a:rPr>
                        <a:t>$0</a:t>
                      </a:r>
                    </a:p>
                  </a:txBody>
                  <a:tcPr marL="152400" marR="114300" marT="114300" marB="114300">
                    <a:lnL w="9525">
                      <a:solidFill>
                        <a:srgbClr val="CED8C7"/>
                      </a:solidFill>
                    </a:lnL>
                    <a:lnR w="9525">
                      <a:solidFill>
                        <a:srgbClr val="CED8C7"/>
                      </a:solidFill>
                    </a:lnR>
                    <a:lnB w="9525">
                      <a:solidFill>
                        <a:srgbClr val="CED8C7"/>
                      </a:solidFill>
                    </a:lnB>
                    <a:solidFill>
                      <a:srgbClr val="FFFFFF"/>
                    </a:solidFill>
                  </a:tcPr>
                </a:tc>
                <a:tc>
                  <a:txBody>
                    <a:bodyPr/>
                    <a:lstStyle/>
                    <a:p>
                      <a:r>
                        <a:rPr sz="1800" b="0">
                          <a:solidFill>
                            <a:srgbClr val="203E30"/>
                          </a:solidFill>
                          <a:latin typeface="Arial"/>
                          <a:ea typeface="Arial"/>
                          <a:cs typeface="Arial"/>
                        </a:rPr>
                        <a:t>$15</a:t>
                      </a:r>
                    </a:p>
                  </a:txBody>
                  <a:tcPr marL="152400" marR="114300" marT="114300" marB="114300">
                    <a:lnR w="9525">
                      <a:solidFill>
                        <a:srgbClr val="CED8C7"/>
                      </a:solidFill>
                    </a:lnR>
                    <a:lnB w="9525">
                      <a:solidFill>
                        <a:srgbClr val="CED8C7"/>
                      </a:solidFill>
                    </a:lnB>
                    <a:solidFill>
                      <a:srgbClr val="FFFFFF"/>
                    </a:solidFill>
                  </a:tcPr>
                </a:tc>
                <a:tc>
                  <a:txBody>
                    <a:bodyPr/>
                    <a:lstStyle/>
                    <a:p>
                      <a:r>
                        <a:rPr sz="1800" b="0">
                          <a:solidFill>
                            <a:srgbClr val="203E30"/>
                          </a:solidFill>
                          <a:latin typeface="Arial"/>
                          <a:ea typeface="Arial"/>
                          <a:cs typeface="Arial"/>
                        </a:rPr>
                        <a:t>$35</a:t>
                      </a:r>
                    </a:p>
                  </a:txBody>
                  <a:tcPr marL="152400" marR="114300" marT="114300" marB="114300">
                    <a:lnR w="9525">
                      <a:solidFill>
                        <a:srgbClr val="CED8C7"/>
                      </a:solidFill>
                    </a:lnR>
                    <a:lnB w="9525">
                      <a:solidFill>
                        <a:srgbClr val="CED8C7"/>
                      </a:solidFill>
                    </a:lnB>
                    <a:solidFill>
                      <a:srgbClr val="FFFFFF"/>
                    </a:solidFill>
                  </a:tcPr>
                </a:tc>
                <a:tc>
                  <a:txBody>
                    <a:bodyPr/>
                    <a:lstStyle/>
                    <a:p>
                      <a:r>
                        <a:rPr sz="1800" b="0">
                          <a:solidFill>
                            <a:srgbClr val="203E30"/>
                          </a:solidFill>
                          <a:latin typeface="Arial"/>
                          <a:ea typeface="Arial"/>
                          <a:cs typeface="Arial"/>
                        </a:rPr>
                        <a:t>$60+</a:t>
                      </a:r>
                    </a:p>
                  </a:txBody>
                  <a:tcPr marL="152400" marR="114300" marT="114300" marB="114300">
                    <a:lnR w="9525">
                      <a:solidFill>
                        <a:srgbClr val="CED8C7"/>
                      </a:solidFill>
                    </a:lnR>
                    <a:lnB w="9525">
                      <a:solidFill>
                        <a:srgbClr val="CED8C7"/>
                      </a:solidFill>
                    </a:lnB>
                    <a:solidFill>
                      <a:srgbClr val="FFFFFF"/>
                    </a:solidFill>
                  </a:tcPr>
                </a:tc>
              </a:tr>
              <a:tr h="762000">
                <a:tc>
                  <a:txBody>
                    <a:bodyPr/>
                    <a:lstStyle/>
                    <a:p>
                      <a:r>
                        <a:rPr sz="1800" b="0">
                          <a:solidFill>
                            <a:srgbClr val="203E30"/>
                          </a:solidFill>
                          <a:latin typeface="Arial"/>
                          <a:ea typeface="Arial"/>
                          <a:cs typeface="Arial"/>
                        </a:rPr>
                        <a:t>20 операцій</a:t>
                      </a:r>
                    </a:p>
                  </a:txBody>
                  <a:tcPr marL="152400" marR="114300" marT="114300" marB="114300">
                    <a:lnL w="9525">
                      <a:solidFill>
                        <a:srgbClr val="CED8C7"/>
                      </a:solidFill>
                    </a:lnL>
                    <a:lnR w="9525">
                      <a:solidFill>
                        <a:srgbClr val="CED8C7"/>
                      </a:solidFill>
                    </a:lnR>
                    <a:lnB w="9525">
                      <a:solidFill>
                        <a:srgbClr val="CED8C7"/>
                      </a:solidFill>
                    </a:lnB>
                    <a:solidFill>
                      <a:srgbClr val="E5ECDD"/>
                    </a:solidFill>
                  </a:tcPr>
                </a:tc>
                <a:tc>
                  <a:txBody>
                    <a:bodyPr/>
                    <a:lstStyle/>
                    <a:p>
                      <a:r>
                        <a:rPr sz="1800" b="0">
                          <a:solidFill>
                            <a:srgbClr val="203E30"/>
                          </a:solidFill>
                          <a:latin typeface="Arial"/>
                          <a:ea typeface="Arial"/>
                          <a:cs typeface="Arial"/>
                        </a:rPr>
                        <a:t>Облік і чатбот</a:t>
                      </a:r>
                    </a:p>
                  </a:txBody>
                  <a:tcPr marL="152400" marR="114300" marT="114300" marB="114300">
                    <a:lnR w="9525">
                      <a:solidFill>
                        <a:srgbClr val="CED8C7"/>
                      </a:solidFill>
                    </a:lnR>
                    <a:lnB w="9525">
                      <a:solidFill>
                        <a:srgbClr val="CED8C7"/>
                      </a:solidFill>
                    </a:lnB>
                    <a:solidFill>
                      <a:srgbClr val="E5ECDD"/>
                    </a:solidFill>
                  </a:tcPr>
                </a:tc>
                <a:tc>
                  <a:txBody>
                    <a:bodyPr/>
                    <a:lstStyle/>
                    <a:p>
                      <a:r>
                        <a:rPr sz="1800" b="0">
                          <a:solidFill>
                            <a:srgbClr val="203E30"/>
                          </a:solidFill>
                          <a:latin typeface="Arial"/>
                          <a:ea typeface="Arial"/>
                          <a:cs typeface="Arial"/>
                        </a:rPr>
                        <a:t>Банк і аналітика</a:t>
                      </a:r>
                    </a:p>
                  </a:txBody>
                  <a:tcPr marL="152400" marR="114300" marT="114300" marB="114300">
                    <a:lnR w="9525">
                      <a:solidFill>
                        <a:srgbClr val="CED8C7"/>
                      </a:solidFill>
                    </a:lnR>
                    <a:lnB w="9525">
                      <a:solidFill>
                        <a:srgbClr val="CED8C7"/>
                      </a:solidFill>
                    </a:lnB>
                    <a:solidFill>
                      <a:srgbClr val="E5ECDD"/>
                    </a:solidFill>
                  </a:tcPr>
                </a:tc>
                <a:tc>
                  <a:txBody>
                    <a:bodyPr/>
                    <a:lstStyle/>
                    <a:p>
                      <a:r>
                        <a:rPr sz="1800" b="0">
                          <a:solidFill>
                            <a:srgbClr val="203E30"/>
                          </a:solidFill>
                          <a:latin typeface="Arial"/>
                          <a:ea typeface="Arial"/>
                          <a:cs typeface="Arial"/>
                        </a:rPr>
                        <a:t>Команда й API</a:t>
                      </a:r>
                    </a:p>
                  </a:txBody>
                  <a:tcPr marL="152400" marR="114300" marT="114300" marB="114300">
                    <a:lnR w="9525">
                      <a:solidFill>
                        <a:srgbClr val="CED8C7"/>
                      </a:solidFill>
                    </a:lnR>
                    <a:lnB w="9525">
                      <a:solidFill>
                        <a:srgbClr val="CED8C7"/>
                      </a:solidFill>
                    </a:lnB>
                    <a:solidFill>
                      <a:srgbClr val="E5ECDD"/>
                    </a:solidFill>
                  </a:tcPr>
                </a:tc>
              </a:tr>
            </a:tbl>
          </a:graphicData>
        </a:graphic>
      </p:graphicFrame>
      <p:sp>
        <p:nvSpPr>
          <p:cNvPr id="6" name="">
            <a:extLst xmlns:a="http://schemas.openxmlformats.org/drawingml/2006/main">
              <a:ext uri="{FF2B5EF4-FFF2-40B4-BE49-F238E27FC236}">
                <a16:creationId xmlns:a16="http://schemas.microsoft.com/office/drawing/2014/main" id="{88FAB01E-EB07-4345-B08A-D6BD355DF5AB}"/>
              </a:ext>
            </a:extLst>
          </p:cNvPr>
          <p:cNvSpPr>
            <a:spLocks xmlns:a="http://schemas.openxmlformats.org/drawingml/2006/main" noGrp="1"/>
          </p:cNvSpPr>
          <p:nvPr/>
        </p:nvSpPr>
        <p:spPr>
          <a:xfrm xmlns:a="http://schemas.openxmlformats.org/drawingml/2006/main">
            <a:off x="609600" y="4762500"/>
            <a:ext cx="257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285B43"/>
                </a:solidFill>
                <a:latin typeface="Calibri"/>
                <a:ea typeface="Calibri"/>
                <a:cs typeface="Calibri"/>
              </a:defRPr>
            </a:defPPr>
          </a:lstStyle>
          <a:p xmlns:a="http://schemas.openxmlformats.org/drawingml/2006/main">
            <a:pPr>
              <a:defRPr sz="2100" b="1">
                <a:solidFill>
                  <a:srgbClr val="285B43"/>
                </a:solidFill>
                <a:latin typeface="Calibri"/>
                <a:ea typeface="Calibri"/>
                <a:cs typeface="Calibri"/>
              </a:defRPr>
            </a:pPr>
            <a:r>
              <a:rPr sz="2100" b="1">
                <a:solidFill>
                  <a:srgbClr val="285B43"/>
                </a:solidFill>
                <a:latin typeface="Calibri"/>
                <a:ea typeface="Calibri"/>
                <a:cs typeface="Calibri"/>
              </a:rPr>
              <a:t>Додатково</a:t>
            </a:r>
          </a:p>
        </p:txBody>
      </p:sp>
      <p:sp>
        <p:nvSpPr>
          <p:cNvPr id="7" name="">
            <a:extLst xmlns:a="http://schemas.openxmlformats.org/drawingml/2006/main">
              <a:ext uri="{FF2B5EF4-FFF2-40B4-BE49-F238E27FC236}">
                <a16:creationId xmlns:a16="http://schemas.microsoft.com/office/drawing/2014/main" id="{42E1A677-74CD-4F5E-8978-CCCEFE87A6D8}"/>
              </a:ext>
            </a:extLst>
          </p:cNvPr>
          <p:cNvSpPr>
            <a:spLocks xmlns:a="http://schemas.openxmlformats.org/drawingml/2006/main" noGrp="1"/>
          </p:cNvSpPr>
          <p:nvPr/>
        </p:nvSpPr>
        <p:spPr>
          <a:xfrm xmlns:a="http://schemas.openxmlformats.org/drawingml/2006/main">
            <a:off x="4095750" y="4638675"/>
            <a:ext cx="714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03E30"/>
                </a:solidFill>
                <a:latin typeface="Arial"/>
                <a:ea typeface="Arial"/>
                <a:cs typeface="Arial"/>
              </a:defRPr>
            </a:defPPr>
          </a:lstStyle>
          <a:p xmlns:a="http://schemas.openxmlformats.org/drawingml/2006/main">
            <a:pPr>
              <a:defRPr sz="1950" b="0">
                <a:solidFill>
                  <a:srgbClr val="203E30"/>
                </a:solidFill>
                <a:latin typeface="Arial"/>
                <a:ea typeface="Arial"/>
                <a:cs typeface="Arial"/>
              </a:defRPr>
            </a:pPr>
            <a:r>
              <a:rPr sz="1950" b="0">
                <a:solidFill>
                  <a:srgbClr val="203E30"/>
                </a:solidFill>
                <a:latin typeface="Arial"/>
                <a:ea typeface="Arial"/>
                <a:cs typeface="Arial"/>
              </a:rPr>
              <a:t>Платежі</a:t>
            </a:r>
          </a:p>
          <a:p xmlns:a="http://schemas.openxmlformats.org/drawingml/2006/main">
            <a:pPr>
              <a:defRPr sz="1950" b="0">
                <a:solidFill>
                  <a:srgbClr val="203E30"/>
                </a:solidFill>
                <a:latin typeface="Arial"/>
                <a:ea typeface="Arial"/>
                <a:cs typeface="Arial"/>
              </a:defRPr>
            </a:pPr>
            <a:r>
              <a:rPr sz="1950" b="0">
                <a:solidFill>
                  <a:srgbClr val="203E30"/>
                </a:solidFill>
                <a:latin typeface="Arial"/>
                <a:ea typeface="Arial"/>
                <a:cs typeface="Arial"/>
              </a:rPr>
              <a:t>Шаблони</a:t>
            </a:r>
          </a:p>
          <a:p xmlns:a="http://schemas.openxmlformats.org/drawingml/2006/main">
            <a:pPr>
              <a:defRPr sz="1950" b="0">
                <a:solidFill>
                  <a:srgbClr val="203E30"/>
                </a:solidFill>
                <a:latin typeface="Arial"/>
                <a:ea typeface="Arial"/>
                <a:cs typeface="Arial"/>
              </a:defRPr>
            </a:pPr>
            <a:r>
              <a:rPr sz="1950" b="0">
                <a:solidFill>
                  <a:srgbClr val="203E30"/>
                </a:solidFill>
                <a:latin typeface="Arial"/>
                <a:ea typeface="Arial"/>
                <a:cs typeface="Arial"/>
              </a:rPr>
              <a:t>Бренд агенції</a:t>
            </a:r>
          </a:p>
        </p:txBody>
      </p:sp>
    </p:spTree>
    <p:extLst>
      <p:ext uri="{BB962C8B-B14F-4D97-AF65-F5344CB8AC3E}">
        <p14:creationId xmlns:p14="http://schemas.microsoft.com/office/powerpoint/2010/main" val="2094180171"/>
      </p:ext>
    </p:extLst>
  </p:cSld>
</p:sld>
</file>

<file path=ppt/slides/slide8.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5CF9EC5F-2BEF-48A1-AD46-9098AAB4446A}"/>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Наша гіпотеза переваги полягає у простоті для мікробізнесу</a:t>
            </a:r>
          </a:p>
        </p:txBody>
      </p:sp>
      <p:sp>
        <p:nvSpPr>
          <p:cNvPr id="2" name="">
            <a:extLst xmlns:a="http://schemas.openxmlformats.org/drawingml/2006/main">
              <a:ext uri="{FF2B5EF4-FFF2-40B4-BE49-F238E27FC236}">
                <a16:creationId xmlns:a16="http://schemas.microsoft.com/office/drawing/2014/main" id="{85F4174C-B972-43F6-807A-B860AD88AD97}"/>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70EEC626-E27E-49E0-929C-A5AE59291F5C}"/>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3C5EA076-1752-4C14-9FE8-D748CC9E4ACD}"/>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Позиціонування, не рейтинг. AI вже є у великих платформ. Джерела в нотатках.</a:t>
            </a:r>
          </a:p>
        </p:txBody>
      </p:sp>
      <p:graphicFrame>
        <p:nvGraphicFramePr>
          <p:cNvPr id="5" name="">
            <a:extLst xmlns:a="http://schemas.openxmlformats.org/drawingml/2006/main">
              <a:ext uri="{FF2B5EF4-FFF2-40B4-BE49-F238E27FC236}">
                <a16:creationId xmlns:a16="http://schemas.microsoft.com/office/drawing/2014/main" id="{C4676DD0-98B5-4C72-A60A-0F8D2A0C1BC2}"/>
              </a:ext>
            </a:extLst>
          </p:cNvPr>
          <p:cNvGraphicFramePr/>
          <p:nvPr/>
        </p:nvGraphicFramePr>
        <p:xfrm>
          <a:off xmlns:a="http://schemas.openxmlformats.org/drawingml/2006/main" x="609600" y="1952625"/>
          <a:ext xmlns:a="http://schemas.openxmlformats.org/drawingml/2006/main" cx="10972800" cy="3619500"/>
        </p:xfrm>
        <a:graphic xmlns:a="http://schemas.openxmlformats.org/drawingml/2006/main">
          <a:graphicData uri="http://schemas.openxmlformats.org/drawingml/2006/table">
            <a:tbl>
              <a:tblPr/>
              <a:tblGrid>
                <a:gridCol w="3619500"/>
                <a:gridCol w="7353300"/>
              </a:tblGrid>
              <a:tr h="603250">
                <a:tc>
                  <a:txBody>
                    <a:bodyPr/>
                    <a:lstStyle/>
                    <a:p>
                      <a:r>
                        <a:rPr sz="1800" b="1">
                          <a:solidFill>
                            <a:srgbClr val="FFFFFF"/>
                          </a:solidFill>
                          <a:latin typeface="Arial"/>
                          <a:ea typeface="Arial"/>
                          <a:cs typeface="Arial"/>
                        </a:rPr>
                        <a:t>Продукт</a:t>
                      </a:r>
                    </a:p>
                  </a:txBody>
                  <a:tcPr marL="152400" marR="114300" marT="114300" marB="114300">
                    <a:lnL w="9525">
                      <a:solidFill>
                        <a:srgbClr val="CED8C7"/>
                      </a:solidFill>
                    </a:lnL>
                    <a:lnR w="9525">
                      <a:solidFill>
                        <a:srgbClr val="CED8C7"/>
                      </a:solidFill>
                    </a:lnR>
                    <a:lnT w="9525">
                      <a:solidFill>
                        <a:srgbClr val="CED8C7"/>
                      </a:solidFill>
                    </a:lnT>
                    <a:lnB w="9525">
                      <a:solidFill>
                        <a:srgbClr val="CED8C7"/>
                      </a:solidFill>
                    </a:lnB>
                    <a:solidFill>
                      <a:srgbClr val="285B43"/>
                    </a:solidFill>
                  </a:tcPr>
                </a:tc>
                <a:tc>
                  <a:txBody>
                    <a:bodyPr/>
                    <a:lstStyle/>
                    <a:p>
                      <a:r>
                        <a:rPr sz="1800" b="1">
                          <a:solidFill>
                            <a:srgbClr val="FFFFFF"/>
                          </a:solidFill>
                          <a:latin typeface="Arial"/>
                          <a:ea typeface="Arial"/>
                          <a:cs typeface="Arial"/>
                        </a:rPr>
                        <a:t>Основний фокус</a:t>
                      </a:r>
                    </a:p>
                  </a:txBody>
                  <a:tcPr marL="152400" marR="114300" marT="114300" marB="114300">
                    <a:lnR w="9525">
                      <a:solidFill>
                        <a:srgbClr val="CED8C7"/>
                      </a:solidFill>
                    </a:lnR>
                    <a:lnT w="9525">
                      <a:solidFill>
                        <a:srgbClr val="CED8C7"/>
                      </a:solidFill>
                    </a:lnT>
                    <a:lnB w="9525">
                      <a:solidFill>
                        <a:srgbClr val="CED8C7"/>
                      </a:solidFill>
                    </a:lnB>
                    <a:solidFill>
                      <a:srgbClr val="285B43"/>
                    </a:solidFill>
                  </a:tcPr>
                </a:tc>
              </a:tr>
              <a:tr h="603250">
                <a:tc>
                  <a:txBody>
                    <a:bodyPr/>
                    <a:lstStyle/>
                    <a:p>
                      <a:r>
                        <a:rPr sz="1800" b="0">
                          <a:solidFill>
                            <a:srgbClr val="203E30"/>
                          </a:solidFill>
                          <a:latin typeface="Arial"/>
                          <a:ea typeface="Arial"/>
                          <a:cs typeface="Arial"/>
                        </a:rPr>
                        <a:t>QuickBooks</a:t>
                      </a:r>
                    </a:p>
                  </a:txBody>
                  <a:tcPr marL="152400" marR="114300" marT="114300" marB="114300">
                    <a:lnL w="9525">
                      <a:solidFill>
                        <a:srgbClr val="CED8C7"/>
                      </a:solidFill>
                    </a:lnL>
                    <a:lnR w="9525">
                      <a:solidFill>
                        <a:srgbClr val="CED8C7"/>
                      </a:solidFill>
                    </a:lnR>
                    <a:lnB w="9525">
                      <a:solidFill>
                        <a:srgbClr val="CED8C7"/>
                      </a:solidFill>
                    </a:lnB>
                    <a:solidFill>
                      <a:srgbClr val="FFFFFF"/>
                    </a:solidFill>
                  </a:tcPr>
                </a:tc>
                <a:tc>
                  <a:txBody>
                    <a:bodyPr/>
                    <a:lstStyle/>
                    <a:p>
                      <a:r>
                        <a:rPr sz="1800" b="0">
                          <a:solidFill>
                            <a:srgbClr val="203E30"/>
                          </a:solidFill>
                          <a:latin typeface="Arial"/>
                          <a:ea typeface="Arial"/>
                          <a:cs typeface="Arial"/>
                        </a:rPr>
                        <a:t>Облік + AI</a:t>
                      </a:r>
                    </a:p>
                  </a:txBody>
                  <a:tcPr marL="152400" marR="114300" marT="114300" marB="114300">
                    <a:lnR w="9525">
                      <a:solidFill>
                        <a:srgbClr val="CED8C7"/>
                      </a:solidFill>
                    </a:lnR>
                    <a:lnB w="9525">
                      <a:solidFill>
                        <a:srgbClr val="CED8C7"/>
                      </a:solidFill>
                    </a:lnB>
                    <a:solidFill>
                      <a:srgbClr val="FFFFFF"/>
                    </a:solidFill>
                  </a:tcPr>
                </a:tc>
              </a:tr>
              <a:tr h="603250">
                <a:tc>
                  <a:txBody>
                    <a:bodyPr/>
                    <a:lstStyle/>
                    <a:p>
                      <a:r>
                        <a:rPr sz="1800" b="0">
                          <a:solidFill>
                            <a:srgbClr val="203E30"/>
                          </a:solidFill>
                          <a:latin typeface="Arial"/>
                          <a:ea typeface="Arial"/>
                          <a:cs typeface="Arial"/>
                        </a:rPr>
                        <a:t>Wave</a:t>
                      </a:r>
                    </a:p>
                  </a:txBody>
                  <a:tcPr marL="152400" marR="114300" marT="114300" marB="114300">
                    <a:lnL w="9525">
                      <a:solidFill>
                        <a:srgbClr val="CED8C7"/>
                      </a:solidFill>
                    </a:lnL>
                    <a:lnR w="9525">
                      <a:solidFill>
                        <a:srgbClr val="CED8C7"/>
                      </a:solidFill>
                    </a:lnR>
                    <a:lnB w="9525">
                      <a:solidFill>
                        <a:srgbClr val="CED8C7"/>
                      </a:solidFill>
                    </a:lnB>
                    <a:solidFill>
                      <a:srgbClr val="E5ECDD"/>
                    </a:solidFill>
                  </a:tcPr>
                </a:tc>
                <a:tc>
                  <a:txBody>
                    <a:bodyPr/>
                    <a:lstStyle/>
                    <a:p>
                      <a:r>
                        <a:rPr sz="1800" b="0">
                          <a:solidFill>
                            <a:srgbClr val="203E30"/>
                          </a:solidFill>
                          <a:latin typeface="Arial"/>
                          <a:ea typeface="Arial"/>
                          <a:cs typeface="Arial"/>
                        </a:rPr>
                        <a:t>Облік + рахунки</a:t>
                      </a:r>
                    </a:p>
                  </a:txBody>
                  <a:tcPr marL="152400" marR="114300" marT="114300" marB="114300">
                    <a:lnR w="9525">
                      <a:solidFill>
                        <a:srgbClr val="CED8C7"/>
                      </a:solidFill>
                    </a:lnR>
                    <a:lnB w="9525">
                      <a:solidFill>
                        <a:srgbClr val="CED8C7"/>
                      </a:solidFill>
                    </a:lnB>
                    <a:solidFill>
                      <a:srgbClr val="E5ECDD"/>
                    </a:solidFill>
                  </a:tcPr>
                </a:tc>
              </a:tr>
              <a:tr h="603250">
                <a:tc>
                  <a:txBody>
                    <a:bodyPr/>
                    <a:lstStyle/>
                    <a:p>
                      <a:r>
                        <a:rPr sz="1800" b="0">
                          <a:solidFill>
                            <a:srgbClr val="203E30"/>
                          </a:solidFill>
                          <a:latin typeface="Arial"/>
                          <a:ea typeface="Arial"/>
                          <a:cs typeface="Arial"/>
                        </a:rPr>
                        <a:t>HubSpot</a:t>
                      </a:r>
                    </a:p>
                  </a:txBody>
                  <a:tcPr marL="152400" marR="114300" marT="114300" marB="114300">
                    <a:lnL w="9525">
                      <a:solidFill>
                        <a:srgbClr val="CED8C7"/>
                      </a:solidFill>
                    </a:lnL>
                    <a:lnR w="9525">
                      <a:solidFill>
                        <a:srgbClr val="CED8C7"/>
                      </a:solidFill>
                    </a:lnR>
                    <a:lnB w="9525">
                      <a:solidFill>
                        <a:srgbClr val="CED8C7"/>
                      </a:solidFill>
                    </a:lnB>
                    <a:solidFill>
                      <a:srgbClr val="FFFFFF"/>
                    </a:solidFill>
                  </a:tcPr>
                </a:tc>
                <a:tc>
                  <a:txBody>
                    <a:bodyPr/>
                    <a:lstStyle/>
                    <a:p>
                      <a:r>
                        <a:rPr sz="1800" b="0">
                          <a:solidFill>
                            <a:srgbClr val="203E30"/>
                          </a:solidFill>
                          <a:latin typeface="Arial"/>
                          <a:ea typeface="Arial"/>
                          <a:cs typeface="Arial"/>
                        </a:rPr>
                        <a:t>CRM + AI</a:t>
                      </a:r>
                    </a:p>
                  </a:txBody>
                  <a:tcPr marL="152400" marR="114300" marT="114300" marB="114300">
                    <a:lnR w="9525">
                      <a:solidFill>
                        <a:srgbClr val="CED8C7"/>
                      </a:solidFill>
                    </a:lnR>
                    <a:lnB w="9525">
                      <a:solidFill>
                        <a:srgbClr val="CED8C7"/>
                      </a:solidFill>
                    </a:lnB>
                    <a:solidFill>
                      <a:srgbClr val="FFFFFF"/>
                    </a:solidFill>
                  </a:tcPr>
                </a:tc>
              </a:tr>
              <a:tr h="603250">
                <a:tc>
                  <a:txBody>
                    <a:bodyPr/>
                    <a:lstStyle/>
                    <a:p>
                      <a:r>
                        <a:rPr sz="1800" b="0">
                          <a:solidFill>
                            <a:srgbClr val="203E30"/>
                          </a:solidFill>
                          <a:latin typeface="Arial"/>
                          <a:ea typeface="Arial"/>
                          <a:cs typeface="Arial"/>
                        </a:rPr>
                        <a:t>Booksy</a:t>
                      </a:r>
                    </a:p>
                  </a:txBody>
                  <a:tcPr marL="152400" marR="114300" marT="114300" marB="114300">
                    <a:lnL w="9525">
                      <a:solidFill>
                        <a:srgbClr val="CED8C7"/>
                      </a:solidFill>
                    </a:lnL>
                    <a:lnR w="9525">
                      <a:solidFill>
                        <a:srgbClr val="CED8C7"/>
                      </a:solidFill>
                    </a:lnR>
                    <a:lnB w="9525">
                      <a:solidFill>
                        <a:srgbClr val="CED8C7"/>
                      </a:solidFill>
                    </a:lnB>
                    <a:solidFill>
                      <a:srgbClr val="E5ECDD"/>
                    </a:solidFill>
                  </a:tcPr>
                </a:tc>
                <a:tc>
                  <a:txBody>
                    <a:bodyPr/>
                    <a:lstStyle/>
                    <a:p>
                      <a:r>
                        <a:rPr sz="1800" b="0">
                          <a:solidFill>
                            <a:srgbClr val="203E30"/>
                          </a:solidFill>
                          <a:latin typeface="Arial"/>
                          <a:ea typeface="Arial"/>
                          <a:cs typeface="Arial"/>
                        </a:rPr>
                        <a:t>Записи + платежі</a:t>
                      </a:r>
                    </a:p>
                  </a:txBody>
                  <a:tcPr marL="152400" marR="114300" marT="114300" marB="114300">
                    <a:lnR w="9525">
                      <a:solidFill>
                        <a:srgbClr val="CED8C7"/>
                      </a:solidFill>
                    </a:lnR>
                    <a:lnB w="9525">
                      <a:solidFill>
                        <a:srgbClr val="CED8C7"/>
                      </a:solidFill>
                    </a:lnB>
                    <a:solidFill>
                      <a:srgbClr val="E5ECDD"/>
                    </a:solidFill>
                  </a:tcPr>
                </a:tc>
              </a:tr>
              <a:tr h="603250">
                <a:tc>
                  <a:txBody>
                    <a:bodyPr/>
                    <a:lstStyle/>
                    <a:p>
                      <a:r>
                        <a:rPr sz="1800" b="0">
                          <a:solidFill>
                            <a:srgbClr val="203E30"/>
                          </a:solidFill>
                          <a:latin typeface="Arial"/>
                          <a:ea typeface="Arial"/>
                          <a:cs typeface="Arial"/>
                        </a:rPr>
                        <a:t>Помічник (план)</a:t>
                      </a:r>
                    </a:p>
                  </a:txBody>
                  <a:tcPr marL="152400" marR="114300" marT="114300" marB="114300">
                    <a:lnL w="9525">
                      <a:solidFill>
                        <a:srgbClr val="CED8C7"/>
                      </a:solidFill>
                    </a:lnL>
                    <a:lnR w="9525">
                      <a:solidFill>
                        <a:srgbClr val="CED8C7"/>
                      </a:solidFill>
                    </a:lnR>
                    <a:lnB w="9525">
                      <a:solidFill>
                        <a:srgbClr val="CED8C7"/>
                      </a:solidFill>
                    </a:lnB>
                    <a:solidFill>
                      <a:srgbClr val="FFFFFF"/>
                    </a:solidFill>
                  </a:tcPr>
                </a:tc>
                <a:tc>
                  <a:txBody>
                    <a:bodyPr/>
                    <a:lstStyle/>
                    <a:p>
                      <a:r>
                        <a:rPr sz="1800" b="0">
                          <a:solidFill>
                            <a:srgbClr val="203E30"/>
                          </a:solidFill>
                          <a:latin typeface="Arial"/>
                          <a:ea typeface="Arial"/>
                          <a:cs typeface="Arial"/>
                        </a:rPr>
                        <a:t>Спільний розмовний сценарій</a:t>
                      </a:r>
                    </a:p>
                  </a:txBody>
                  <a:tcPr marL="152400" marR="114300" marT="114300" marB="114300">
                    <a:lnR w="9525">
                      <a:solidFill>
                        <a:srgbClr val="CED8C7"/>
                      </a:solidFill>
                    </a:lnR>
                    <a:lnB w="9525">
                      <a:solidFill>
                        <a:srgbClr val="CED8C7"/>
                      </a:solidFill>
                    </a:lnB>
                    <a:solidFill>
                      <a:srgbClr val="FFFFFF"/>
                    </a:solidFill>
                  </a:tcPr>
                </a:tc>
              </a:tr>
            </a:tbl>
          </a:graphicData>
        </a:graphic>
      </p:graphicFrame>
    </p:spTree>
    <p:extLst>
      <p:ext uri="{BB962C8B-B14F-4D97-AF65-F5344CB8AC3E}">
        <p14:creationId xmlns:p14="http://schemas.microsoft.com/office/powerpoint/2010/main" val="443335355"/>
      </p:ext>
    </p:extLst>
  </p:cSld>
</p:sld>
</file>

<file path=ppt/slides/slide9.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9" name="placeholder_1">
            <a:extLst xmlns:a="http://schemas.openxmlformats.org/drawingml/2006/main">
              <a:ext uri="{FF2B5EF4-FFF2-40B4-BE49-F238E27FC236}">
                <a16:creationId xmlns:a16="http://schemas.microsoft.com/office/drawing/2014/main" id="{540B2EA6-C01F-4C67-9370-6F3C9A7F4069}"/>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Перші 6–9 місяців зосередимося на салонах краси</a:t>
            </a:r>
          </a:p>
        </p:txBody>
      </p:sp>
      <p:sp>
        <p:nvSpPr>
          <p:cNvPr id="2" name="">
            <a:extLst xmlns:a="http://schemas.openxmlformats.org/drawingml/2006/main">
              <a:ext uri="{FF2B5EF4-FFF2-40B4-BE49-F238E27FC236}">
                <a16:creationId xmlns:a16="http://schemas.microsoft.com/office/drawing/2014/main" id="{C70551B4-4965-4936-902F-06D496F46DB9}"/>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6FEA673E-2FF6-4BF0-A4EF-D06F2E3A2DBF}"/>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CDB334F1-65A6-4F56-AF70-89C11F98FE82}"/>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План виходу на ринок. Перша країна: Україна.</a:t>
            </a:r>
          </a:p>
        </p:txBody>
      </p:sp>
      <p:sp>
        <p:nvSpPr>
          <p:cNvPr id="5" name="">
            <a:extLst xmlns:a="http://schemas.openxmlformats.org/drawingml/2006/main">
              <a:ext uri="{FF2B5EF4-FFF2-40B4-BE49-F238E27FC236}">
                <a16:creationId xmlns:a16="http://schemas.microsoft.com/office/drawing/2014/main" id="{C70BA010-3625-4E91-A8EB-F81F33DBB11C}"/>
              </a:ext>
            </a:extLst>
          </p:cNvPr>
          <p:cNvSpPr>
            <a:spLocks xmlns:a="http://schemas.openxmlformats.org/drawingml/2006/main" noGrp="1"/>
          </p:cNvSpPr>
          <p:nvPr/>
        </p:nvSpPr>
        <p:spPr>
          <a:xfrm xmlns:a="http://schemas.openxmlformats.org/drawingml/2006/main">
            <a:off x="609600" y="2047875"/>
            <a:ext cx="3714750" cy="3333750"/>
          </a:xfrm>
          <a:prstGeom xmlns:a="http://schemas.openxmlformats.org/drawingml/2006/main" prst="rect">
            <a:avLst/>
          </a:prstGeom>
          <a:solidFill xmlns:a="http://schemas.openxmlformats.org/drawingml/2006/main">
            <a:srgbClr val="285B4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8E19356-5E9B-4C41-8B2F-82DA35E27587}"/>
              </a:ext>
            </a:extLst>
          </p:cNvPr>
          <p:cNvSpPr>
            <a:spLocks xmlns:a="http://schemas.openxmlformats.org/drawingml/2006/main" noGrp="1"/>
          </p:cNvSpPr>
          <p:nvPr/>
        </p:nvSpPr>
        <p:spPr>
          <a:xfrm xmlns:a="http://schemas.openxmlformats.org/drawingml/2006/main">
            <a:off x="838200" y="2333625"/>
            <a:ext cx="323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4275" b="1">
                <a:solidFill>
                  <a:srgbClr val="FFFFFF"/>
                </a:solidFill>
                <a:latin typeface="Calibri"/>
                <a:ea typeface="Calibri"/>
                <a:cs typeface="Calibri"/>
              </a:defRPr>
            </a:defPPr>
          </a:lstStyle>
          <a:p xmlns:a="http://schemas.openxmlformats.org/drawingml/2006/main">
            <a:pPr>
              <a:defRPr sz="4275" b="1">
                <a:solidFill>
                  <a:srgbClr val="FFFFFF"/>
                </a:solidFill>
                <a:latin typeface="Calibri"/>
                <a:ea typeface="Calibri"/>
                <a:cs typeface="Calibri"/>
              </a:defRPr>
            </a:pPr>
            <a:r>
              <a:rPr sz="4275" b="1">
                <a:solidFill>
                  <a:srgbClr val="FFFFFF"/>
                </a:solidFill>
                <a:latin typeface="Calibri"/>
                <a:ea typeface="Calibri"/>
                <a:cs typeface="Calibri"/>
              </a:rPr>
              <a:t>Одна</a:t>
            </a:r>
          </a:p>
          <a:p xmlns:a="http://schemas.openxmlformats.org/drawingml/2006/main">
            <a:pPr>
              <a:defRPr sz="4275" b="1">
                <a:solidFill>
                  <a:srgbClr val="FFFFFF"/>
                </a:solidFill>
                <a:latin typeface="Calibri"/>
                <a:ea typeface="Calibri"/>
                <a:cs typeface="Calibri"/>
              </a:defRPr>
            </a:pPr>
            <a:r>
              <a:rPr sz="4275" b="1">
                <a:solidFill>
                  <a:srgbClr val="FFFFFF"/>
                </a:solidFill>
                <a:latin typeface="Calibri"/>
                <a:ea typeface="Calibri"/>
                <a:cs typeface="Calibri"/>
              </a:rPr>
              <a:t>вертикаль</a:t>
            </a:r>
          </a:p>
        </p:txBody>
      </p:sp>
      <p:sp>
        <p:nvSpPr>
          <p:cNvPr id="7" name="">
            <a:extLst xmlns:a="http://schemas.openxmlformats.org/drawingml/2006/main">
              <a:ext uri="{FF2B5EF4-FFF2-40B4-BE49-F238E27FC236}">
                <a16:creationId xmlns:a16="http://schemas.microsoft.com/office/drawing/2014/main" id="{9586B126-DEFE-4F84-8917-E511955BEEBF}"/>
              </a:ext>
            </a:extLst>
          </p:cNvPr>
          <p:cNvSpPr>
            <a:spLocks xmlns:a="http://schemas.openxmlformats.org/drawingml/2006/main" noGrp="1"/>
          </p:cNvSpPr>
          <p:nvPr/>
        </p:nvSpPr>
        <p:spPr>
          <a:xfrm xmlns:a="http://schemas.openxmlformats.org/drawingml/2006/main">
            <a:off x="838200" y="4143375"/>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D5E998"/>
                </a:solidFill>
                <a:latin typeface="Arial"/>
                <a:ea typeface="Arial"/>
                <a:cs typeface="Arial"/>
              </a:defRPr>
            </a:defPPr>
          </a:lstStyle>
          <a:p xmlns:a="http://schemas.openxmlformats.org/drawingml/2006/main">
            <a:pPr>
              <a:defRPr sz="2250" b="0">
                <a:solidFill>
                  <a:srgbClr val="D5E998"/>
                </a:solidFill>
                <a:latin typeface="Arial"/>
                <a:ea typeface="Arial"/>
                <a:cs typeface="Arial"/>
              </a:defRPr>
            </a:pPr>
            <a:r>
              <a:rPr sz="2250" b="0">
                <a:solidFill>
                  <a:srgbClr val="D5E998"/>
                </a:solidFill>
                <a:latin typeface="Arial"/>
                <a:ea typeface="Arial"/>
                <a:cs typeface="Arial"/>
              </a:rPr>
              <a:t>Салони й</a:t>
            </a:r>
          </a:p>
          <a:p xmlns:a="http://schemas.openxmlformats.org/drawingml/2006/main">
            <a:pPr>
              <a:defRPr sz="2250" b="0">
                <a:solidFill>
                  <a:srgbClr val="D5E998"/>
                </a:solidFill>
                <a:latin typeface="Arial"/>
                <a:ea typeface="Arial"/>
                <a:cs typeface="Arial"/>
              </a:defRPr>
            </a:pPr>
            <a:r>
              <a:rPr sz="2250" b="0">
                <a:solidFill>
                  <a:srgbClr val="D5E998"/>
                </a:solidFill>
                <a:latin typeface="Arial"/>
                <a:ea typeface="Arial"/>
                <a:cs typeface="Arial"/>
              </a:rPr>
              <a:t>незалежні майстри</a:t>
            </a:r>
          </a:p>
        </p:txBody>
      </p:sp>
      <p:sp>
        <p:nvSpPr>
          <p:cNvPr id="8" name="">
            <a:extLst xmlns:a="http://schemas.openxmlformats.org/drawingml/2006/main">
              <a:ext uri="{FF2B5EF4-FFF2-40B4-BE49-F238E27FC236}">
                <a16:creationId xmlns:a16="http://schemas.microsoft.com/office/drawing/2014/main" id="{A4EF7ECB-92EC-4D68-A01B-6DB41C0671C7}"/>
              </a:ext>
            </a:extLst>
          </p:cNvPr>
          <p:cNvSpPr>
            <a:spLocks xmlns:a="http://schemas.openxmlformats.org/drawingml/2006/main" noGrp="1"/>
          </p:cNvSpPr>
          <p:nvPr/>
        </p:nvSpPr>
        <p:spPr>
          <a:xfrm xmlns:a="http://schemas.openxmlformats.org/drawingml/2006/main">
            <a:off x="5048250" y="2257425"/>
            <a:ext cx="638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00" b="0">
                <a:solidFill>
                  <a:srgbClr val="203E30"/>
                </a:solidFill>
                <a:latin typeface="Arial"/>
                <a:ea typeface="Arial"/>
                <a:cs typeface="Arial"/>
              </a:defRPr>
            </a:defPPr>
          </a:lstStyle>
          <a:p xmlns:a="http://schemas.openxmlformats.org/drawingml/2006/main">
            <a:pPr>
              <a:defRPr sz="2400" b="0">
                <a:solidFill>
                  <a:srgbClr val="203E30"/>
                </a:solidFill>
                <a:latin typeface="Arial"/>
                <a:ea typeface="Arial"/>
                <a:cs typeface="Arial"/>
              </a:defRPr>
            </a:pPr>
            <a:r>
              <a:rPr sz="2400" b="0">
                <a:solidFill>
                  <a:srgbClr val="203E30"/>
                </a:solidFill>
                <a:latin typeface="Arial"/>
                <a:ea typeface="Arial"/>
                <a:cs typeface="Arial"/>
              </a:rPr>
              <a:t>Спільноти та партнерства</a:t>
            </a:r>
          </a:p>
          <a:p xmlns:a="http://schemas.openxmlformats.org/drawingml/2006/main">
            <a:pPr>
              <a:defRPr sz="2400" b="0">
                <a:solidFill>
                  <a:srgbClr val="203E30"/>
                </a:solidFill>
                <a:latin typeface="Arial"/>
                <a:ea typeface="Arial"/>
                <a:cs typeface="Arial"/>
              </a:defRPr>
            </a:pPr>
            <a:r>
              <a:rPr sz="2400" b="0">
                <a:solidFill>
                  <a:srgbClr val="203E30"/>
                </a:solidFill>
                <a:latin typeface="Arial"/>
                <a:ea typeface="Arial"/>
                <a:cs typeface="Arial"/>
              </a:rPr>
              <a:t>Кейси й рекомендації</a:t>
            </a:r>
          </a:p>
          <a:p xmlns:a="http://schemas.openxmlformats.org/drawingml/2006/main">
            <a:pPr>
              <a:defRPr sz="2400" b="0">
                <a:solidFill>
                  <a:srgbClr val="203E30"/>
                </a:solidFill>
                <a:latin typeface="Arial"/>
                <a:ea typeface="Arial"/>
                <a:cs typeface="Arial"/>
              </a:defRPr>
            </a:pPr>
            <a:r>
              <a:rPr sz="2400" b="0">
                <a:solidFill>
                  <a:srgbClr val="203E30"/>
                </a:solidFill>
                <a:latin typeface="Arial"/>
                <a:ea typeface="Arial"/>
                <a:cs typeface="Arial"/>
              </a:rPr>
              <a:t>Instagram / Facebook</a:t>
            </a:r>
          </a:p>
          <a:p xmlns:a="http://schemas.openxmlformats.org/drawingml/2006/main">
            <a:pPr>
              <a:defRPr sz="2400" b="0">
                <a:solidFill>
                  <a:srgbClr val="203E30"/>
                </a:solidFill>
                <a:latin typeface="Arial"/>
                <a:ea typeface="Arial"/>
                <a:cs typeface="Arial"/>
              </a:defRPr>
            </a:pPr>
            <a:r>
              <a:rPr sz="2400" b="0">
                <a:solidFill>
                  <a:srgbClr val="203E30"/>
                </a:solidFill>
                <a:latin typeface="Arial"/>
                <a:ea typeface="Arial"/>
                <a:cs typeface="Arial"/>
              </a:rPr>
              <a:t>SEO: «облік для перукарні»</a:t>
            </a:r>
          </a:p>
        </p:txBody>
      </p:sp>
    </p:spTree>
    <p:extLst>
      <p:ext uri="{BB962C8B-B14F-4D97-AF65-F5344CB8AC3E}">
        <p14:creationId xmlns:p14="http://schemas.microsoft.com/office/powerpoint/2010/main" val="2027312443"/>
      </p:ext>
    </p:extLst>
  </p:cSld>
</p:sld>
</file>

<file path=ppt/slides/slide10.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21" name="placeholder_1">
            <a:extLst xmlns:a="http://schemas.openxmlformats.org/drawingml/2006/main">
              <a:ext uri="{FF2B5EF4-FFF2-40B4-BE49-F238E27FC236}">
                <a16:creationId xmlns:a16="http://schemas.microsoft.com/office/drawing/2014/main" id="{540B2EA6-C01F-4C67-9370-6F3C9A7F4069}"/>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За 12 місяців плануємо пройти шлях від інтерв’ю до продажів</a:t>
            </a:r>
          </a:p>
        </p:txBody>
      </p:sp>
      <p:sp>
        <p:nvSpPr>
          <p:cNvPr id="2" name="">
            <a:extLst xmlns:a="http://schemas.openxmlformats.org/drawingml/2006/main">
              <a:ext uri="{FF2B5EF4-FFF2-40B4-BE49-F238E27FC236}">
                <a16:creationId xmlns:a16="http://schemas.microsoft.com/office/drawing/2014/main" id="{A1F1C3A3-694B-49D0-848D-B2D5157C8BE4}"/>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0C3CDC2F-706C-4FA9-A565-CF443C4F3E4F}"/>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B6E8515D-8AC8-4940-B66C-F6E10592ABA2}"/>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Цілі, не досягнення. Місяці від старту проєкту.</a:t>
            </a:r>
          </a:p>
        </p:txBody>
      </p:sp>
      <p:sp>
        <p:nvSpPr>
          <p:cNvPr id="5" name="">
            <a:extLst xmlns:a="http://schemas.openxmlformats.org/drawingml/2006/main">
              <a:ext uri="{FF2B5EF4-FFF2-40B4-BE49-F238E27FC236}">
                <a16:creationId xmlns:a16="http://schemas.microsoft.com/office/drawing/2014/main" id="{65583311-3ED4-4906-A591-59E9D5A9B264}"/>
              </a:ext>
            </a:extLst>
          </p:cNvPr>
          <p:cNvSpPr>
            <a:spLocks xmlns:a="http://schemas.openxmlformats.org/drawingml/2006/main" noGrp="1"/>
          </p:cNvSpPr>
          <p:nvPr/>
        </p:nvSpPr>
        <p:spPr>
          <a:xfrm xmlns:a="http://schemas.openxmlformats.org/drawingml/2006/main">
            <a:off x="609600" y="3095625"/>
            <a:ext cx="10972800" cy="38100"/>
          </a:xfrm>
          <a:prstGeom xmlns:a="http://schemas.openxmlformats.org/drawingml/2006/main" prst="rect">
            <a:avLst/>
          </a:prstGeom>
          <a:solidFill xmlns:a="http://schemas.openxmlformats.org/drawingml/2006/main">
            <a:srgbClr val="CED8C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20B05C8-C89D-4E2A-91BA-6A83E2CF14B7}"/>
              </a:ext>
            </a:extLst>
          </p:cNvPr>
          <p:cNvSpPr>
            <a:spLocks xmlns:a="http://schemas.openxmlformats.org/drawingml/2006/main" noGrp="1"/>
          </p:cNvSpPr>
          <p:nvPr/>
        </p:nvSpPr>
        <p:spPr>
          <a:xfrm xmlns:a="http://schemas.openxmlformats.org/drawingml/2006/main">
            <a:off x="609600" y="2981325"/>
            <a:ext cx="266700" cy="266700"/>
          </a:xfrm>
          <a:prstGeom xmlns:a="http://schemas.openxmlformats.org/drawingml/2006/main" prst="ellipse">
            <a:avLst/>
          </a:prstGeom>
          <a:solidFill xmlns:a="http://schemas.openxmlformats.org/drawingml/2006/main">
            <a:srgbClr val="9FB98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1A846A4-58BC-48FF-9507-055D5010F513}"/>
              </a:ext>
            </a:extLst>
          </p:cNvPr>
          <p:cNvSpPr>
            <a:spLocks xmlns:a="http://schemas.openxmlformats.org/drawingml/2006/main" noGrp="1"/>
          </p:cNvSpPr>
          <p:nvPr/>
        </p:nvSpPr>
        <p:spPr>
          <a:xfrm xmlns:a="http://schemas.openxmlformats.org/drawingml/2006/main">
            <a:off x="609600" y="220980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285B43"/>
                </a:solidFill>
                <a:latin typeface="Calibri"/>
                <a:ea typeface="Calibri"/>
                <a:cs typeface="Calibri"/>
              </a:defRPr>
            </a:defPPr>
          </a:lstStyle>
          <a:p xmlns:a="http://schemas.openxmlformats.org/drawingml/2006/main">
            <a:pPr>
              <a:defRPr sz="3225" b="1">
                <a:solidFill>
                  <a:srgbClr val="285B43"/>
                </a:solidFill>
                <a:latin typeface="Calibri"/>
                <a:ea typeface="Calibri"/>
                <a:cs typeface="Calibri"/>
              </a:defRPr>
            </a:pPr>
            <a:r>
              <a:rPr sz="3225" b="1">
                <a:solidFill>
                  <a:srgbClr val="285B43"/>
                </a:solidFill>
                <a:latin typeface="Calibri"/>
                <a:ea typeface="Calibri"/>
                <a:cs typeface="Calibri"/>
              </a:rPr>
              <a:t>1–2</a:t>
            </a:r>
          </a:p>
        </p:txBody>
      </p:sp>
      <p:sp>
        <p:nvSpPr>
          <p:cNvPr id="8" name="">
            <a:extLst xmlns:a="http://schemas.openxmlformats.org/drawingml/2006/main">
              <a:ext uri="{FF2B5EF4-FFF2-40B4-BE49-F238E27FC236}">
                <a16:creationId xmlns:a16="http://schemas.microsoft.com/office/drawing/2014/main" id="{99F022F4-5E45-4FF8-822D-FBF4DE7EF3C4}"/>
              </a:ext>
            </a:extLst>
          </p:cNvPr>
          <p:cNvSpPr>
            <a:spLocks xmlns:a="http://schemas.openxmlformats.org/drawingml/2006/main" noGrp="1"/>
          </p:cNvSpPr>
          <p:nvPr/>
        </p:nvSpPr>
        <p:spPr>
          <a:xfrm xmlns:a="http://schemas.openxmlformats.org/drawingml/2006/main">
            <a:off x="609600" y="3524250"/>
            <a:ext cx="20288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15+ інтерв’ю</a:t>
            </a:r>
          </a:p>
        </p:txBody>
      </p:sp>
      <p:sp>
        <p:nvSpPr>
          <p:cNvPr id="9" name="">
            <a:extLst xmlns:a="http://schemas.openxmlformats.org/drawingml/2006/main">
              <a:ext uri="{FF2B5EF4-FFF2-40B4-BE49-F238E27FC236}">
                <a16:creationId xmlns:a16="http://schemas.microsoft.com/office/drawing/2014/main" id="{128B8AA8-EA78-4CAC-B441-AE42E014E1F3}"/>
              </a:ext>
            </a:extLst>
          </p:cNvPr>
          <p:cNvSpPr>
            <a:spLocks xmlns:a="http://schemas.openxmlformats.org/drawingml/2006/main" noGrp="1"/>
          </p:cNvSpPr>
          <p:nvPr/>
        </p:nvSpPr>
        <p:spPr>
          <a:xfrm xmlns:a="http://schemas.openxmlformats.org/drawingml/2006/main">
            <a:off x="2838450" y="2981325"/>
            <a:ext cx="266700" cy="266700"/>
          </a:xfrm>
          <a:prstGeom xmlns:a="http://schemas.openxmlformats.org/drawingml/2006/main" prst="ellipse">
            <a:avLst/>
          </a:prstGeom>
          <a:solidFill xmlns:a="http://schemas.openxmlformats.org/drawingml/2006/main">
            <a:srgbClr val="9FB98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484415B-59D5-40D3-8F2E-A68F27175974}"/>
              </a:ext>
            </a:extLst>
          </p:cNvPr>
          <p:cNvSpPr>
            <a:spLocks xmlns:a="http://schemas.openxmlformats.org/drawingml/2006/main" noGrp="1"/>
          </p:cNvSpPr>
          <p:nvPr/>
        </p:nvSpPr>
        <p:spPr>
          <a:xfrm xmlns:a="http://schemas.openxmlformats.org/drawingml/2006/main">
            <a:off x="2838450" y="220980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285B43"/>
                </a:solidFill>
                <a:latin typeface="Calibri"/>
                <a:ea typeface="Calibri"/>
                <a:cs typeface="Calibri"/>
              </a:defRPr>
            </a:defPPr>
          </a:lstStyle>
          <a:p xmlns:a="http://schemas.openxmlformats.org/drawingml/2006/main">
            <a:pPr>
              <a:defRPr sz="3225" b="1">
                <a:solidFill>
                  <a:srgbClr val="285B43"/>
                </a:solidFill>
                <a:latin typeface="Calibri"/>
                <a:ea typeface="Calibri"/>
                <a:cs typeface="Calibri"/>
              </a:defRPr>
            </a:pPr>
            <a:r>
              <a:rPr sz="3225" b="1">
                <a:solidFill>
                  <a:srgbClr val="285B43"/>
                </a:solidFill>
                <a:latin typeface="Calibri"/>
                <a:ea typeface="Calibri"/>
                <a:cs typeface="Calibri"/>
              </a:rPr>
              <a:t>3–5</a:t>
            </a:r>
          </a:p>
        </p:txBody>
      </p:sp>
      <p:sp>
        <p:nvSpPr>
          <p:cNvPr id="11" name="">
            <a:extLst xmlns:a="http://schemas.openxmlformats.org/drawingml/2006/main">
              <a:ext uri="{FF2B5EF4-FFF2-40B4-BE49-F238E27FC236}">
                <a16:creationId xmlns:a16="http://schemas.microsoft.com/office/drawing/2014/main" id="{CAF3B554-4A6B-4E6E-B493-761146B591E0}"/>
              </a:ext>
            </a:extLst>
          </p:cNvPr>
          <p:cNvSpPr>
            <a:spLocks xmlns:a="http://schemas.openxmlformats.org/drawingml/2006/main" noGrp="1"/>
          </p:cNvSpPr>
          <p:nvPr/>
        </p:nvSpPr>
        <p:spPr>
          <a:xfrm xmlns:a="http://schemas.openxmlformats.org/drawingml/2006/main">
            <a:off x="2838450" y="3524250"/>
            <a:ext cx="20288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Розробка MVP</a:t>
            </a:r>
          </a:p>
        </p:txBody>
      </p:sp>
      <p:sp>
        <p:nvSpPr>
          <p:cNvPr id="12" name="">
            <a:extLst xmlns:a="http://schemas.openxmlformats.org/drawingml/2006/main">
              <a:ext uri="{FF2B5EF4-FFF2-40B4-BE49-F238E27FC236}">
                <a16:creationId xmlns:a16="http://schemas.microsoft.com/office/drawing/2014/main" id="{F9144C04-0861-4504-ADDC-CC8D31BA3ED7}"/>
              </a:ext>
            </a:extLst>
          </p:cNvPr>
          <p:cNvSpPr>
            <a:spLocks xmlns:a="http://schemas.openxmlformats.org/drawingml/2006/main" noGrp="1"/>
          </p:cNvSpPr>
          <p:nvPr/>
        </p:nvSpPr>
        <p:spPr>
          <a:xfrm xmlns:a="http://schemas.openxmlformats.org/drawingml/2006/main">
            <a:off x="5067300" y="2981325"/>
            <a:ext cx="266700" cy="266700"/>
          </a:xfrm>
          <a:prstGeom xmlns:a="http://schemas.openxmlformats.org/drawingml/2006/main" prst="ellipse">
            <a:avLst/>
          </a:prstGeom>
          <a:solidFill xmlns:a="http://schemas.openxmlformats.org/drawingml/2006/main">
            <a:srgbClr val="9FB98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10C1973-5294-4D08-BE83-11CAEC5F7B86}"/>
              </a:ext>
            </a:extLst>
          </p:cNvPr>
          <p:cNvSpPr>
            <a:spLocks xmlns:a="http://schemas.openxmlformats.org/drawingml/2006/main" noGrp="1"/>
          </p:cNvSpPr>
          <p:nvPr/>
        </p:nvSpPr>
        <p:spPr>
          <a:xfrm xmlns:a="http://schemas.openxmlformats.org/drawingml/2006/main">
            <a:off x="5067300" y="220980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285B43"/>
                </a:solidFill>
                <a:latin typeface="Calibri"/>
                <a:ea typeface="Calibri"/>
                <a:cs typeface="Calibri"/>
              </a:defRPr>
            </a:defPPr>
          </a:lstStyle>
          <a:p xmlns:a="http://schemas.openxmlformats.org/drawingml/2006/main">
            <a:pPr>
              <a:defRPr sz="3225" b="1">
                <a:solidFill>
                  <a:srgbClr val="285B43"/>
                </a:solidFill>
                <a:latin typeface="Calibri"/>
                <a:ea typeface="Calibri"/>
                <a:cs typeface="Calibri"/>
              </a:defRPr>
            </a:pPr>
            <a:r>
              <a:rPr sz="3225" b="1">
                <a:solidFill>
                  <a:srgbClr val="285B43"/>
                </a:solidFill>
                <a:latin typeface="Calibri"/>
                <a:ea typeface="Calibri"/>
                <a:cs typeface="Calibri"/>
              </a:rPr>
              <a:t>6–7</a:t>
            </a:r>
          </a:p>
        </p:txBody>
      </p:sp>
      <p:sp>
        <p:nvSpPr>
          <p:cNvPr id="14" name="">
            <a:extLst xmlns:a="http://schemas.openxmlformats.org/drawingml/2006/main">
              <a:ext uri="{FF2B5EF4-FFF2-40B4-BE49-F238E27FC236}">
                <a16:creationId xmlns:a16="http://schemas.microsoft.com/office/drawing/2014/main" id="{A55E544E-9253-42D4-89EF-832103C1732A}"/>
              </a:ext>
            </a:extLst>
          </p:cNvPr>
          <p:cNvSpPr>
            <a:spLocks xmlns:a="http://schemas.openxmlformats.org/drawingml/2006/main" noGrp="1"/>
          </p:cNvSpPr>
          <p:nvPr/>
        </p:nvSpPr>
        <p:spPr>
          <a:xfrm xmlns:a="http://schemas.openxmlformats.org/drawingml/2006/main">
            <a:off x="5067300" y="3524250"/>
            <a:ext cx="20288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Бета: 30–50</a:t>
            </a:r>
          </a:p>
        </p:txBody>
      </p:sp>
      <p:sp>
        <p:nvSpPr>
          <p:cNvPr id="15" name="">
            <a:extLst xmlns:a="http://schemas.openxmlformats.org/drawingml/2006/main">
              <a:ext uri="{FF2B5EF4-FFF2-40B4-BE49-F238E27FC236}">
                <a16:creationId xmlns:a16="http://schemas.microsoft.com/office/drawing/2014/main" id="{302C0081-847B-4CC8-9DD5-6899F8DCAC3E}"/>
              </a:ext>
            </a:extLst>
          </p:cNvPr>
          <p:cNvSpPr>
            <a:spLocks xmlns:a="http://schemas.openxmlformats.org/drawingml/2006/main" noGrp="1"/>
          </p:cNvSpPr>
          <p:nvPr/>
        </p:nvSpPr>
        <p:spPr>
          <a:xfrm xmlns:a="http://schemas.openxmlformats.org/drawingml/2006/main">
            <a:off x="7296150" y="2981325"/>
            <a:ext cx="266700" cy="266700"/>
          </a:xfrm>
          <a:prstGeom xmlns:a="http://schemas.openxmlformats.org/drawingml/2006/main" prst="ellipse">
            <a:avLst/>
          </a:prstGeom>
          <a:solidFill xmlns:a="http://schemas.openxmlformats.org/drawingml/2006/main">
            <a:srgbClr val="9FB98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80043F7-4278-4994-94C8-379127688ECB}"/>
              </a:ext>
            </a:extLst>
          </p:cNvPr>
          <p:cNvSpPr>
            <a:spLocks xmlns:a="http://schemas.openxmlformats.org/drawingml/2006/main" noGrp="1"/>
          </p:cNvSpPr>
          <p:nvPr/>
        </p:nvSpPr>
        <p:spPr>
          <a:xfrm xmlns:a="http://schemas.openxmlformats.org/drawingml/2006/main">
            <a:off x="7296150" y="220980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285B43"/>
                </a:solidFill>
                <a:latin typeface="Calibri"/>
                <a:ea typeface="Calibri"/>
                <a:cs typeface="Calibri"/>
              </a:defRPr>
            </a:defPPr>
          </a:lstStyle>
          <a:p xmlns:a="http://schemas.openxmlformats.org/drawingml/2006/main">
            <a:pPr>
              <a:defRPr sz="3225" b="1">
                <a:solidFill>
                  <a:srgbClr val="285B43"/>
                </a:solidFill>
                <a:latin typeface="Calibri"/>
                <a:ea typeface="Calibri"/>
                <a:cs typeface="Calibri"/>
              </a:defRPr>
            </a:pPr>
            <a:r>
              <a:rPr sz="3225" b="1">
                <a:solidFill>
                  <a:srgbClr val="285B43"/>
                </a:solidFill>
                <a:latin typeface="Calibri"/>
                <a:ea typeface="Calibri"/>
                <a:cs typeface="Calibri"/>
              </a:rPr>
              <a:t>8</a:t>
            </a:r>
          </a:p>
        </p:txBody>
      </p:sp>
      <p:sp>
        <p:nvSpPr>
          <p:cNvPr id="17" name="">
            <a:extLst xmlns:a="http://schemas.openxmlformats.org/drawingml/2006/main">
              <a:ext uri="{FF2B5EF4-FFF2-40B4-BE49-F238E27FC236}">
                <a16:creationId xmlns:a16="http://schemas.microsoft.com/office/drawing/2014/main" id="{4989E3D2-07E0-438D-94A8-399ECF3EFC16}"/>
              </a:ext>
            </a:extLst>
          </p:cNvPr>
          <p:cNvSpPr>
            <a:spLocks xmlns:a="http://schemas.openxmlformats.org/drawingml/2006/main" noGrp="1"/>
          </p:cNvSpPr>
          <p:nvPr/>
        </p:nvSpPr>
        <p:spPr>
          <a:xfrm xmlns:a="http://schemas.openxmlformats.org/drawingml/2006/main">
            <a:off x="7296150" y="3524250"/>
            <a:ext cx="20288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Запуск</a:t>
            </a:r>
          </a:p>
        </p:txBody>
      </p:sp>
      <p:sp>
        <p:nvSpPr>
          <p:cNvPr id="18" name="">
            <a:extLst xmlns:a="http://schemas.openxmlformats.org/drawingml/2006/main">
              <a:ext uri="{FF2B5EF4-FFF2-40B4-BE49-F238E27FC236}">
                <a16:creationId xmlns:a16="http://schemas.microsoft.com/office/drawing/2014/main" id="{D5AB4A03-27A7-453A-A27C-F3C45B7FA9A0}"/>
              </a:ext>
            </a:extLst>
          </p:cNvPr>
          <p:cNvSpPr>
            <a:spLocks xmlns:a="http://schemas.openxmlformats.org/drawingml/2006/main" noGrp="1"/>
          </p:cNvSpPr>
          <p:nvPr/>
        </p:nvSpPr>
        <p:spPr>
          <a:xfrm xmlns:a="http://schemas.openxmlformats.org/drawingml/2006/main">
            <a:off x="9525000" y="2981325"/>
            <a:ext cx="266700" cy="266700"/>
          </a:xfrm>
          <a:prstGeom xmlns:a="http://schemas.openxmlformats.org/drawingml/2006/main" prst="ellipse">
            <a:avLst/>
          </a:prstGeom>
          <a:solidFill xmlns:a="http://schemas.openxmlformats.org/drawingml/2006/main">
            <a:srgbClr val="285B4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AA9F803-C3B9-4633-BB95-4C48FB1901BB}"/>
              </a:ext>
            </a:extLst>
          </p:cNvPr>
          <p:cNvSpPr>
            <a:spLocks xmlns:a="http://schemas.openxmlformats.org/drawingml/2006/main" noGrp="1"/>
          </p:cNvSpPr>
          <p:nvPr/>
        </p:nvSpPr>
        <p:spPr>
          <a:xfrm xmlns:a="http://schemas.openxmlformats.org/drawingml/2006/main">
            <a:off x="9525000" y="220980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285B43"/>
                </a:solidFill>
                <a:latin typeface="Calibri"/>
                <a:ea typeface="Calibri"/>
                <a:cs typeface="Calibri"/>
              </a:defRPr>
            </a:defPPr>
          </a:lstStyle>
          <a:p xmlns:a="http://schemas.openxmlformats.org/drawingml/2006/main">
            <a:pPr>
              <a:defRPr sz="3225" b="1">
                <a:solidFill>
                  <a:srgbClr val="285B43"/>
                </a:solidFill>
                <a:latin typeface="Calibri"/>
                <a:ea typeface="Calibri"/>
                <a:cs typeface="Calibri"/>
              </a:defRPr>
            </a:pPr>
            <a:r>
              <a:rPr sz="3225" b="1">
                <a:solidFill>
                  <a:srgbClr val="285B43"/>
                </a:solidFill>
                <a:latin typeface="Calibri"/>
                <a:ea typeface="Calibri"/>
                <a:cs typeface="Calibri"/>
              </a:rPr>
              <a:t>9–12</a:t>
            </a:r>
          </a:p>
        </p:txBody>
      </p:sp>
      <p:sp>
        <p:nvSpPr>
          <p:cNvPr id="20" name="">
            <a:extLst xmlns:a="http://schemas.openxmlformats.org/drawingml/2006/main">
              <a:ext uri="{FF2B5EF4-FFF2-40B4-BE49-F238E27FC236}">
                <a16:creationId xmlns:a16="http://schemas.microsoft.com/office/drawing/2014/main" id="{F9400F54-3B40-4169-98EE-E0CE41DFD083}"/>
              </a:ext>
            </a:extLst>
          </p:cNvPr>
          <p:cNvSpPr>
            <a:spLocks xmlns:a="http://schemas.openxmlformats.org/drawingml/2006/main" noGrp="1"/>
          </p:cNvSpPr>
          <p:nvPr/>
        </p:nvSpPr>
        <p:spPr>
          <a:xfrm xmlns:a="http://schemas.openxmlformats.org/drawingml/2006/main">
            <a:off x="9525000" y="3524250"/>
            <a:ext cx="20288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800–1 200</a:t>
            </a:r>
          </a:p>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платних</a:t>
            </a:r>
          </a:p>
        </p:txBody>
      </p:sp>
    </p:spTree>
    <p:extLst>
      <p:ext uri="{BB962C8B-B14F-4D97-AF65-F5344CB8AC3E}">
        <p14:creationId xmlns:p14="http://schemas.microsoft.com/office/powerpoint/2010/main" val="1872664857"/>
      </p:ext>
    </p:extLst>
  </p:cSld>
</p:sld>
</file>

<file path=ppt/slides/slide11.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1" name="placeholder_1">
            <a:extLst xmlns:a="http://schemas.openxmlformats.org/drawingml/2006/main">
              <a:ext uri="{FF2B5EF4-FFF2-40B4-BE49-F238E27FC236}">
                <a16:creationId xmlns:a16="http://schemas.microsoft.com/office/drawing/2014/main" id="{5CF9EC5F-2BEF-48A1-AD46-9098AAB4446A}"/>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Прогноз на кінець року передбачає $25 тис. MRR</a:t>
            </a:r>
          </a:p>
        </p:txBody>
      </p:sp>
      <p:sp>
        <p:nvSpPr>
          <p:cNvPr id="2" name="">
            <a:extLst xmlns:a="http://schemas.openxmlformats.org/drawingml/2006/main">
              <a:ext uri="{FF2B5EF4-FFF2-40B4-BE49-F238E27FC236}">
                <a16:creationId xmlns:a16="http://schemas.microsoft.com/office/drawing/2014/main" id="{2021C985-9907-4AB8-9855-583884E75395}"/>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173BA1DC-267F-4594-8086-4EFB3FD36565}"/>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6897F959-AB75-4348-BAD9-8CBCBA900B77}"/>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Прогнозні середини діапазонів. Ранні платні пілоти потребують окремої перевірки.</a:t>
            </a:r>
          </a:p>
        </p:txBody>
      </p:sp>
      <p:graphicFrame>
        <p:nvGraphicFramePr>
          <p:cNvPr id="5" name="Chart">
            <a:extLst xmlns:a="http://schemas.openxmlformats.org/drawingml/2006/main">
              <a:ext uri="{FF2B5EF4-FFF2-40B4-BE49-F238E27FC236}">
                <a16:creationId xmlns:a16="http://schemas.microsoft.com/office/drawing/2014/main" id="{F81A33EE-F8C2-48D1-9AAB-22FEA531FB5E}"/>
              </a:ext>
            </a:extLst>
          </p:cNvPr>
          <p:cNvGraphicFramePr/>
          <p:nvPr/>
        </p:nvGraphicFramePr>
        <p:xfrm>
          <a:off xmlns:a="http://schemas.openxmlformats.org/drawingml/2006/main" x="609600" y="2047875"/>
          <a:ext xmlns:a="http://schemas.openxmlformats.org/drawingml/2006/main" cx="7429500" cy="3429000"/>
        </p:xfrm>
        <a:graphic xmlns:a="http://schemas.openxmlformats.org/drawingml/2006/main">
          <a:graphicData uri="http://schemas.openxmlformats.org/drawingml/2006/chart">
            <c:chart xmlns:r="http://schemas.openxmlformats.org/officeDocument/2006/relationships" xmlns:c="http://schemas.openxmlformats.org/drawingml/2006/chart" r:id="R8820df4e5ed04f7b"/>
          </a:graphicData>
        </a:graphic>
      </p:graphicFrame>
      <p:sp>
        <p:nvSpPr>
          <p:cNvPr id="6" name="">
            <a:extLst xmlns:a="http://schemas.openxmlformats.org/drawingml/2006/main">
              <a:ext uri="{FF2B5EF4-FFF2-40B4-BE49-F238E27FC236}">
                <a16:creationId xmlns:a16="http://schemas.microsoft.com/office/drawing/2014/main" id="{81B2DC64-4D86-4724-8597-69FD876955CF}"/>
              </a:ext>
            </a:extLst>
          </p:cNvPr>
          <p:cNvSpPr>
            <a:spLocks xmlns:a="http://schemas.openxmlformats.org/drawingml/2006/main" noGrp="1"/>
          </p:cNvSpPr>
          <p:nvPr/>
        </p:nvSpPr>
        <p:spPr>
          <a:xfrm xmlns:a="http://schemas.openxmlformats.org/drawingml/2006/main">
            <a:off x="714375" y="17526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657266"/>
                </a:solidFill>
                <a:latin typeface="Arial"/>
                <a:ea typeface="Arial"/>
                <a:cs typeface="Arial"/>
              </a:defRPr>
            </a:defPPr>
          </a:lstStyle>
          <a:p xmlns:a="http://schemas.openxmlformats.org/drawingml/2006/main">
            <a:pPr>
              <a:defRPr sz="1800" b="0">
                <a:solidFill>
                  <a:srgbClr val="657266"/>
                </a:solidFill>
                <a:latin typeface="Arial"/>
                <a:ea typeface="Arial"/>
                <a:cs typeface="Arial"/>
              </a:defRPr>
            </a:pPr>
            <a:r>
              <a:rPr sz="1800" b="0">
                <a:solidFill>
                  <a:srgbClr val="657266"/>
                </a:solidFill>
                <a:latin typeface="Arial"/>
                <a:ea typeface="Arial"/>
                <a:cs typeface="Arial"/>
              </a:rPr>
              <a:t>тис. USD</a:t>
            </a:r>
          </a:p>
        </p:txBody>
      </p:sp>
      <p:sp>
        <p:nvSpPr>
          <p:cNvPr id="7" name="">
            <a:extLst xmlns:a="http://schemas.openxmlformats.org/drawingml/2006/main">
              <a:ext uri="{FF2B5EF4-FFF2-40B4-BE49-F238E27FC236}">
                <a16:creationId xmlns:a16="http://schemas.microsoft.com/office/drawing/2014/main" id="{1FEBD240-9189-4676-8740-5C1B89167662}"/>
              </a:ext>
            </a:extLst>
          </p:cNvPr>
          <p:cNvSpPr>
            <a:spLocks xmlns:a="http://schemas.openxmlformats.org/drawingml/2006/main" noGrp="1"/>
          </p:cNvSpPr>
          <p:nvPr/>
        </p:nvSpPr>
        <p:spPr>
          <a:xfrm xmlns:a="http://schemas.openxmlformats.org/drawingml/2006/main">
            <a:off x="8639175" y="21907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5100" b="1">
                <a:solidFill>
                  <a:srgbClr val="285B43"/>
                </a:solidFill>
                <a:latin typeface="Calibri"/>
                <a:ea typeface="Calibri"/>
                <a:cs typeface="Calibri"/>
              </a:defRPr>
            </a:defPPr>
          </a:lstStyle>
          <a:p xmlns:a="http://schemas.openxmlformats.org/drawingml/2006/main">
            <a:pPr>
              <a:defRPr sz="5100" b="1">
                <a:solidFill>
                  <a:srgbClr val="285B43"/>
                </a:solidFill>
                <a:latin typeface="Calibri"/>
                <a:ea typeface="Calibri"/>
                <a:cs typeface="Calibri"/>
              </a:defRPr>
            </a:pPr>
            <a:r>
              <a:rPr sz="5100" b="1">
                <a:solidFill>
                  <a:srgbClr val="285B43"/>
                </a:solidFill>
                <a:latin typeface="Calibri"/>
                <a:ea typeface="Calibri"/>
                <a:cs typeface="Calibri"/>
              </a:rPr>
              <a:t>$25</a:t>
            </a:r>
          </a:p>
        </p:txBody>
      </p:sp>
      <p:sp>
        <p:nvSpPr>
          <p:cNvPr id="8" name="">
            <a:extLst xmlns:a="http://schemas.openxmlformats.org/drawingml/2006/main">
              <a:ext uri="{FF2B5EF4-FFF2-40B4-BE49-F238E27FC236}">
                <a16:creationId xmlns:a16="http://schemas.microsoft.com/office/drawing/2014/main" id="{727EB0A5-9B63-4E17-ACAC-D7C467B26609}"/>
              </a:ext>
            </a:extLst>
          </p:cNvPr>
          <p:cNvSpPr>
            <a:spLocks xmlns:a="http://schemas.openxmlformats.org/drawingml/2006/main" noGrp="1"/>
          </p:cNvSpPr>
          <p:nvPr/>
        </p:nvSpPr>
        <p:spPr>
          <a:xfrm xmlns:a="http://schemas.openxmlformats.org/drawingml/2006/main">
            <a:off x="8639175" y="3048000"/>
            <a:ext cx="276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03E30"/>
                </a:solidFill>
                <a:latin typeface="Arial"/>
                <a:ea typeface="Arial"/>
                <a:cs typeface="Arial"/>
              </a:defRPr>
            </a:defPPr>
          </a:lstStyle>
          <a:p xmlns:a="http://schemas.openxmlformats.org/drawingml/2006/main">
            <a:pPr>
              <a:defRPr sz="1950" b="0">
                <a:solidFill>
                  <a:srgbClr val="203E30"/>
                </a:solidFill>
                <a:latin typeface="Arial"/>
                <a:ea typeface="Arial"/>
                <a:cs typeface="Arial"/>
              </a:defRPr>
            </a:pPr>
            <a:r>
              <a:rPr sz="1950" b="0">
                <a:solidFill>
                  <a:srgbClr val="203E30"/>
                </a:solidFill>
                <a:latin typeface="Arial"/>
                <a:ea typeface="Arial"/>
                <a:cs typeface="Arial"/>
              </a:rPr>
              <a:t>ARPU / місяць</a:t>
            </a:r>
          </a:p>
        </p:txBody>
      </p:sp>
      <p:sp>
        <p:nvSpPr>
          <p:cNvPr id="9" name="">
            <a:extLst xmlns:a="http://schemas.openxmlformats.org/drawingml/2006/main">
              <a:ext uri="{FF2B5EF4-FFF2-40B4-BE49-F238E27FC236}">
                <a16:creationId xmlns:a16="http://schemas.microsoft.com/office/drawing/2014/main" id="{A793E6A2-5811-4390-B046-994CF6C31DBC}"/>
              </a:ext>
            </a:extLst>
          </p:cNvPr>
          <p:cNvSpPr>
            <a:spLocks xmlns:a="http://schemas.openxmlformats.org/drawingml/2006/main" noGrp="1"/>
          </p:cNvSpPr>
          <p:nvPr/>
        </p:nvSpPr>
        <p:spPr>
          <a:xfrm xmlns:a="http://schemas.openxmlformats.org/drawingml/2006/main">
            <a:off x="8639175" y="38290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5100" b="1">
                <a:solidFill>
                  <a:srgbClr val="285B43"/>
                </a:solidFill>
                <a:latin typeface="Calibri"/>
                <a:ea typeface="Calibri"/>
                <a:cs typeface="Calibri"/>
              </a:defRPr>
            </a:defPPr>
          </a:lstStyle>
          <a:p xmlns:a="http://schemas.openxmlformats.org/drawingml/2006/main">
            <a:pPr>
              <a:defRPr sz="5100" b="1">
                <a:solidFill>
                  <a:srgbClr val="285B43"/>
                </a:solidFill>
                <a:latin typeface="Calibri"/>
                <a:ea typeface="Calibri"/>
                <a:cs typeface="Calibri"/>
              </a:defRPr>
            </a:pPr>
            <a:r>
              <a:rPr sz="5100" b="1">
                <a:solidFill>
                  <a:srgbClr val="285B43"/>
                </a:solidFill>
                <a:latin typeface="Calibri"/>
                <a:ea typeface="Calibri"/>
                <a:cs typeface="Calibri"/>
              </a:rPr>
              <a:t>1 000</a:t>
            </a:r>
          </a:p>
        </p:txBody>
      </p:sp>
      <p:sp>
        <p:nvSpPr>
          <p:cNvPr id="10" name="">
            <a:extLst xmlns:a="http://schemas.openxmlformats.org/drawingml/2006/main">
              <a:ext uri="{FF2B5EF4-FFF2-40B4-BE49-F238E27FC236}">
                <a16:creationId xmlns:a16="http://schemas.microsoft.com/office/drawing/2014/main" id="{C6E733CD-5621-455C-9DD7-BC60502CF474}"/>
              </a:ext>
            </a:extLst>
          </p:cNvPr>
          <p:cNvSpPr>
            <a:spLocks xmlns:a="http://schemas.openxmlformats.org/drawingml/2006/main" noGrp="1"/>
          </p:cNvSpPr>
          <p:nvPr/>
        </p:nvSpPr>
        <p:spPr>
          <a:xfrm xmlns:a="http://schemas.openxmlformats.org/drawingml/2006/main">
            <a:off x="8639175" y="4695825"/>
            <a:ext cx="276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03E30"/>
                </a:solidFill>
                <a:latin typeface="Arial"/>
                <a:ea typeface="Arial"/>
                <a:cs typeface="Arial"/>
              </a:defRPr>
            </a:defPPr>
          </a:lstStyle>
          <a:p xmlns:a="http://schemas.openxmlformats.org/drawingml/2006/main">
            <a:pPr>
              <a:defRPr sz="1950" b="0">
                <a:solidFill>
                  <a:srgbClr val="203E30"/>
                </a:solidFill>
                <a:latin typeface="Arial"/>
                <a:ea typeface="Arial"/>
                <a:cs typeface="Arial"/>
              </a:defRPr>
            </a:pPr>
            <a:r>
              <a:rPr sz="1950" b="0">
                <a:solidFill>
                  <a:srgbClr val="203E30"/>
                </a:solidFill>
                <a:latin typeface="Arial"/>
                <a:ea typeface="Arial"/>
                <a:cs typeface="Arial"/>
              </a:rPr>
              <a:t>платних клієнтів</a:t>
            </a:r>
          </a:p>
        </p:txBody>
      </p:sp>
    </p:spTree>
    <p:extLst>
      <p:ext uri="{BB962C8B-B14F-4D97-AF65-F5344CB8AC3E}">
        <p14:creationId xmlns:p14="http://schemas.microsoft.com/office/powerpoint/2010/main" val="1339297456"/>
      </p:ext>
    </p:extLst>
  </p:cSld>
</p:sld>
</file>

<file path=ppt/slides/slide12.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9" name="placeholder_1">
            <a:extLst xmlns:a="http://schemas.openxmlformats.org/drawingml/2006/main">
              <a:ext uri="{FF2B5EF4-FFF2-40B4-BE49-F238E27FC236}">
                <a16:creationId xmlns:a16="http://schemas.microsoft.com/office/drawing/2014/main" id="{5CF9EC5F-2BEF-48A1-AD46-9098AAB4446A}"/>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$150–250 тис. профінансують MVP і перевірку платного попиту</a:t>
            </a:r>
          </a:p>
        </p:txBody>
      </p:sp>
      <p:sp>
        <p:nvSpPr>
          <p:cNvPr id="2" name="">
            <a:extLst xmlns:a="http://schemas.openxmlformats.org/drawingml/2006/main">
              <a:ext uri="{FF2B5EF4-FFF2-40B4-BE49-F238E27FC236}">
                <a16:creationId xmlns:a16="http://schemas.microsoft.com/office/drawing/2014/main" id="{60493CAE-74EE-419D-ADCD-CE1873D6B86F}"/>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09D76EBE-C280-4050-8DEF-946E0EDB65A4}"/>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971AFB21-58F9-4BB1-ABF5-7B177714BC65}"/>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План раунду. Розподіл для сценарію $200 тис., резерв на 6 місяців.</a:t>
            </a:r>
          </a:p>
        </p:txBody>
      </p:sp>
      <p:sp>
        <p:nvSpPr>
          <p:cNvPr id="5" name="">
            <a:extLst xmlns:a="http://schemas.openxmlformats.org/drawingml/2006/main">
              <a:ext uri="{FF2B5EF4-FFF2-40B4-BE49-F238E27FC236}">
                <a16:creationId xmlns:a16="http://schemas.microsoft.com/office/drawing/2014/main" id="{DD6F2E33-280A-4891-AD3D-D07044CFB214}"/>
              </a:ext>
            </a:extLst>
          </p:cNvPr>
          <p:cNvSpPr>
            <a:spLocks xmlns:a="http://schemas.openxmlformats.org/drawingml/2006/main" noGrp="1"/>
          </p:cNvSpPr>
          <p:nvPr/>
        </p:nvSpPr>
        <p:spPr>
          <a:xfrm xmlns:a="http://schemas.openxmlformats.org/drawingml/2006/main">
            <a:off x="609600" y="18859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1">
                <a:solidFill>
                  <a:srgbClr val="285B43"/>
                </a:solidFill>
                <a:latin typeface="Calibri"/>
                <a:ea typeface="Calibri"/>
                <a:cs typeface="Calibri"/>
              </a:defRPr>
            </a:defPPr>
          </a:lstStyle>
          <a:p xmlns:a="http://schemas.openxmlformats.org/drawingml/2006/main">
            <a:pPr>
              <a:defRPr sz="2175" b="1">
                <a:solidFill>
                  <a:srgbClr val="285B43"/>
                </a:solidFill>
                <a:latin typeface="Calibri"/>
                <a:ea typeface="Calibri"/>
                <a:cs typeface="Calibri"/>
              </a:defRPr>
            </a:pPr>
            <a:r>
              <a:rPr sz="2175" b="1">
                <a:solidFill>
                  <a:srgbClr val="285B43"/>
                </a:solidFill>
                <a:latin typeface="Calibri"/>
                <a:ea typeface="Calibri"/>
                <a:cs typeface="Calibri"/>
              </a:rPr>
              <a:t>Команда формується</a:t>
            </a:r>
          </a:p>
        </p:txBody>
      </p:sp>
      <p:sp>
        <p:nvSpPr>
          <p:cNvPr id="6" name="">
            <a:extLst xmlns:a="http://schemas.openxmlformats.org/drawingml/2006/main">
              <a:ext uri="{FF2B5EF4-FFF2-40B4-BE49-F238E27FC236}">
                <a16:creationId xmlns:a16="http://schemas.microsoft.com/office/drawing/2014/main" id="{DE036F9C-DC55-4F9D-9DBE-A1CF26DE8914}"/>
              </a:ext>
            </a:extLst>
          </p:cNvPr>
          <p:cNvSpPr>
            <a:spLocks xmlns:a="http://schemas.openxmlformats.org/drawingml/2006/main" noGrp="1"/>
          </p:cNvSpPr>
          <p:nvPr/>
        </p:nvSpPr>
        <p:spPr>
          <a:xfrm xmlns:a="http://schemas.openxmlformats.org/drawingml/2006/main">
            <a:off x="609600" y="2447925"/>
            <a:ext cx="4476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203E30"/>
                </a:solidFill>
                <a:latin typeface="Arial"/>
                <a:ea typeface="Arial"/>
                <a:cs typeface="Arial"/>
              </a:defRPr>
            </a:defPPr>
          </a:lstStyle>
          <a:p xmlns:a="http://schemas.openxmlformats.org/drawingml/2006/main">
            <a:pPr>
              <a:defRPr sz="1800" b="0">
                <a:solidFill>
                  <a:srgbClr val="203E30"/>
                </a:solidFill>
                <a:latin typeface="Arial"/>
                <a:ea typeface="Arial"/>
                <a:cs typeface="Arial"/>
              </a:defRPr>
            </a:pPr>
            <a:r>
              <a:rPr sz="1800" b="0">
                <a:solidFill>
                  <a:srgbClr val="203E30"/>
                </a:solidFill>
                <a:latin typeface="Arial"/>
                <a:ea typeface="Arial"/>
                <a:cs typeface="Arial"/>
              </a:rPr>
              <a:t>[Ім’я Прізвище]</a:t>
            </a:r>
          </a:p>
          <a:p xmlns:a="http://schemas.openxmlformats.org/drawingml/2006/main">
            <a:pPr>
              <a:defRPr sz="1800" b="0">
                <a:solidFill>
                  <a:srgbClr val="203E30"/>
                </a:solidFill>
                <a:latin typeface="Arial"/>
                <a:ea typeface="Arial"/>
                <a:cs typeface="Arial"/>
              </a:defRPr>
            </a:pPr>
            <a:r>
              <a:rPr sz="1800" b="0">
                <a:solidFill>
                  <a:srgbClr val="203E30"/>
                </a:solidFill>
                <a:latin typeface="Arial"/>
                <a:ea typeface="Arial"/>
                <a:cs typeface="Arial"/>
              </a:rPr>
              <a:t>CEO / продукт</a:t>
            </a:r>
          </a:p>
          <a:p xmlns:a="http://schemas.openxmlformats.org/drawingml/2006/main">
            <a:r>
              <a:t/>
            </a:r>
          </a:p>
          <a:p xmlns:a="http://schemas.openxmlformats.org/drawingml/2006/main">
            <a:pPr>
              <a:defRPr sz="1800" b="0">
                <a:solidFill>
                  <a:srgbClr val="203E30"/>
                </a:solidFill>
                <a:latin typeface="Arial"/>
                <a:ea typeface="Arial"/>
                <a:cs typeface="Arial"/>
              </a:defRPr>
            </a:pPr>
            <a:r>
              <a:rPr sz="1800" b="0">
                <a:solidFill>
                  <a:srgbClr val="203E30"/>
                </a:solidFill>
                <a:latin typeface="Arial"/>
                <a:ea typeface="Arial"/>
                <a:cs typeface="Arial"/>
              </a:rPr>
              <a:t>[Ім’я Прізвище]</a:t>
            </a:r>
          </a:p>
          <a:p xmlns:a="http://schemas.openxmlformats.org/drawingml/2006/main">
            <a:pPr>
              <a:defRPr sz="1800" b="0">
                <a:solidFill>
                  <a:srgbClr val="203E30"/>
                </a:solidFill>
                <a:latin typeface="Arial"/>
                <a:ea typeface="Arial"/>
                <a:cs typeface="Arial"/>
              </a:defRPr>
            </a:pPr>
            <a:r>
              <a:rPr sz="1800" b="0">
                <a:solidFill>
                  <a:srgbClr val="203E30"/>
                </a:solidFill>
                <a:latin typeface="Arial"/>
                <a:ea typeface="Arial"/>
                <a:cs typeface="Arial"/>
              </a:rPr>
              <a:t>CTO</a:t>
            </a:r>
          </a:p>
          <a:p xmlns:a="http://schemas.openxmlformats.org/drawingml/2006/main">
            <a:r>
              <a:t/>
            </a:r>
          </a:p>
          <a:p xmlns:a="http://schemas.openxmlformats.org/drawingml/2006/main">
            <a:pPr>
              <a:defRPr sz="1800" b="0">
                <a:solidFill>
                  <a:srgbClr val="203E30"/>
                </a:solidFill>
                <a:latin typeface="Arial"/>
                <a:ea typeface="Arial"/>
                <a:cs typeface="Arial"/>
              </a:defRPr>
            </a:pPr>
            <a:r>
              <a:rPr sz="1800" b="0">
                <a:solidFill>
                  <a:srgbClr val="203E30"/>
                </a:solidFill>
                <a:latin typeface="Arial"/>
                <a:ea typeface="Arial"/>
                <a:cs typeface="Arial"/>
              </a:rPr>
              <a:t>[Ім’я Прізвище]</a:t>
            </a:r>
          </a:p>
          <a:p xmlns:a="http://schemas.openxmlformats.org/drawingml/2006/main">
            <a:pPr>
              <a:defRPr sz="1800" b="0">
                <a:solidFill>
                  <a:srgbClr val="203E30"/>
                </a:solidFill>
                <a:latin typeface="Arial"/>
                <a:ea typeface="Arial"/>
                <a:cs typeface="Arial"/>
              </a:defRPr>
            </a:pPr>
            <a:r>
              <a:rPr sz="1800" b="0">
                <a:solidFill>
                  <a:srgbClr val="203E30"/>
                </a:solidFill>
                <a:latin typeface="Arial"/>
                <a:ea typeface="Arial"/>
                <a:cs typeface="Arial"/>
              </a:rPr>
              <a:t>Розробник</a:t>
            </a:r>
          </a:p>
          <a:p xmlns:a="http://schemas.openxmlformats.org/drawingml/2006/main">
            <a:r>
              <a:t/>
            </a:r>
          </a:p>
          <a:p xmlns:a="http://schemas.openxmlformats.org/drawingml/2006/main">
            <a:pPr>
              <a:defRPr sz="1800" b="0">
                <a:solidFill>
                  <a:srgbClr val="203E30"/>
                </a:solidFill>
                <a:latin typeface="Arial"/>
                <a:ea typeface="Arial"/>
                <a:cs typeface="Arial"/>
              </a:defRPr>
            </a:pPr>
            <a:r>
              <a:rPr sz="1800" b="0">
                <a:solidFill>
                  <a:srgbClr val="203E30"/>
                </a:solidFill>
                <a:latin typeface="Arial"/>
                <a:ea typeface="Arial"/>
                <a:cs typeface="Arial"/>
              </a:rPr>
              <a:t>[Ім’я Прізвище]</a:t>
            </a:r>
          </a:p>
          <a:p xmlns:a="http://schemas.openxmlformats.org/drawingml/2006/main">
            <a:pPr>
              <a:defRPr sz="1800" b="0">
                <a:solidFill>
                  <a:srgbClr val="203E30"/>
                </a:solidFill>
                <a:latin typeface="Arial"/>
                <a:ea typeface="Arial"/>
                <a:cs typeface="Arial"/>
              </a:defRPr>
            </a:pPr>
            <a:r>
              <a:rPr sz="1800" b="0">
                <a:solidFill>
                  <a:srgbClr val="203E30"/>
                </a:solidFill>
                <a:latin typeface="Arial"/>
                <a:ea typeface="Arial"/>
                <a:cs typeface="Arial"/>
              </a:rPr>
              <a:t>Маркетолог, частково</a:t>
            </a:r>
          </a:p>
        </p:txBody>
      </p:sp>
      <p:graphicFrame>
        <p:nvGraphicFramePr>
          <p:cNvPr id="7" name="Chart">
            <a:extLst xmlns:a="http://schemas.openxmlformats.org/drawingml/2006/main">
              <a:ext uri="{FF2B5EF4-FFF2-40B4-BE49-F238E27FC236}">
                <a16:creationId xmlns:a16="http://schemas.microsoft.com/office/drawing/2014/main" id="{76428EDE-6BFE-4625-ADB3-5D5144962217}"/>
              </a:ext>
            </a:extLst>
          </p:cNvPr>
          <p:cNvGraphicFramePr/>
          <p:nvPr/>
        </p:nvGraphicFramePr>
        <p:xfrm>
          <a:off xmlns:a="http://schemas.openxmlformats.org/drawingml/2006/main" x="5334000" y="2000250"/>
          <a:ext xmlns:a="http://schemas.openxmlformats.org/drawingml/2006/main" cx="6238875" cy="3524250"/>
        </p:xfrm>
        <a:graphic xmlns:a="http://schemas.openxmlformats.org/drawingml/2006/main">
          <a:graphicData uri="http://schemas.openxmlformats.org/drawingml/2006/chart">
            <c:chart xmlns:r="http://schemas.openxmlformats.org/officeDocument/2006/relationships" xmlns:c="http://schemas.openxmlformats.org/drawingml/2006/chart" r:id="R65ef947266df4da8"/>
          </a:graphicData>
        </a:graphic>
      </p:graphicFrame>
      <p:sp>
        <p:nvSpPr>
          <p:cNvPr id="8" name="">
            <a:extLst xmlns:a="http://schemas.openxmlformats.org/drawingml/2006/main">
              <a:ext uri="{FF2B5EF4-FFF2-40B4-BE49-F238E27FC236}">
                <a16:creationId xmlns:a16="http://schemas.microsoft.com/office/drawing/2014/main" id="{73E5C235-CFFB-407D-A4EB-6130615671E9}"/>
              </a:ext>
            </a:extLst>
          </p:cNvPr>
          <p:cNvSpPr>
            <a:spLocks xmlns:a="http://schemas.openxmlformats.org/drawingml/2006/main" noGrp="1"/>
          </p:cNvSpPr>
          <p:nvPr/>
        </p:nvSpPr>
        <p:spPr>
          <a:xfrm xmlns:a="http://schemas.openxmlformats.org/drawingml/2006/main">
            <a:off x="9953625" y="17145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657266"/>
                </a:solidFill>
                <a:latin typeface="Arial"/>
                <a:ea typeface="Arial"/>
                <a:cs typeface="Arial"/>
              </a:defRPr>
            </a:defPPr>
          </a:lstStyle>
          <a:p xmlns:a="http://schemas.openxmlformats.org/drawingml/2006/main">
            <a:pPr>
              <a:defRPr sz="1800" b="0">
                <a:solidFill>
                  <a:srgbClr val="657266"/>
                </a:solidFill>
                <a:latin typeface="Arial"/>
                <a:ea typeface="Arial"/>
                <a:cs typeface="Arial"/>
              </a:defRPr>
            </a:pPr>
            <a:r>
              <a:rPr sz="1800" b="0">
                <a:solidFill>
                  <a:srgbClr val="657266"/>
                </a:solidFill>
                <a:latin typeface="Arial"/>
                <a:ea typeface="Arial"/>
                <a:cs typeface="Arial"/>
              </a:rPr>
              <a:t>тис. USD</a:t>
            </a:r>
          </a:p>
        </p:txBody>
      </p:sp>
    </p:spTree>
    <p:extLst>
      <p:ext uri="{BB962C8B-B14F-4D97-AF65-F5344CB8AC3E}">
        <p14:creationId xmlns:p14="http://schemas.microsoft.com/office/powerpoint/2010/main" val="1179588555"/>
      </p:ext>
    </p:extLst>
  </p:cSld>
</p:sld>
</file>

<file path=ppt/slides/slide13.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5CF9EC5F-2BEF-48A1-AD46-9098AAB4446A}"/>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Контроль власника й вузький фокус зменшують ключові ризики</a:t>
            </a:r>
          </a:p>
        </p:txBody>
      </p:sp>
      <p:sp>
        <p:nvSpPr>
          <p:cNvPr id="2" name="">
            <a:extLst xmlns:a="http://schemas.openxmlformats.org/drawingml/2006/main">
              <a:ext uri="{FF2B5EF4-FFF2-40B4-BE49-F238E27FC236}">
                <a16:creationId xmlns:a16="http://schemas.microsoft.com/office/drawing/2014/main" id="{CE5D5C5E-4D6D-4194-AC8B-604D179FB84E}"/>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8EA18404-6A49-45C8-B653-E2917C301DD2}"/>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C672B4B7-37FC-464D-BAD1-749B246FEE01}"/>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Додаток. Заходи заплановані, ефективність потребує перевірки.</a:t>
            </a:r>
          </a:p>
        </p:txBody>
      </p:sp>
      <p:graphicFrame>
        <p:nvGraphicFramePr>
          <p:cNvPr id="5" name="">
            <a:extLst xmlns:a="http://schemas.openxmlformats.org/drawingml/2006/main">
              <a:ext uri="{FF2B5EF4-FFF2-40B4-BE49-F238E27FC236}">
                <a16:creationId xmlns:a16="http://schemas.microsoft.com/office/drawing/2014/main" id="{598596A0-22A7-4564-9F4D-C8EF97FF4D80}"/>
              </a:ext>
            </a:extLst>
          </p:cNvPr>
          <p:cNvGraphicFramePr/>
          <p:nvPr/>
        </p:nvGraphicFramePr>
        <p:xfrm>
          <a:off xmlns:a="http://schemas.openxmlformats.org/drawingml/2006/main" x="609600" y="2047875"/>
          <a:ext xmlns:a="http://schemas.openxmlformats.org/drawingml/2006/main" cx="10972800" cy="3333750"/>
        </p:xfrm>
        <a:graphic xmlns:a="http://schemas.openxmlformats.org/drawingml/2006/main">
          <a:graphicData uri="http://schemas.openxmlformats.org/drawingml/2006/table">
            <a:tbl>
              <a:tblPr/>
              <a:tblGrid>
                <a:gridCol w="4476750"/>
                <a:gridCol w="6496050"/>
              </a:tblGrid>
              <a:tr h="666750">
                <a:tc>
                  <a:txBody>
                    <a:bodyPr/>
                    <a:lstStyle/>
                    <a:p>
                      <a:r>
                        <a:rPr sz="1800" b="1">
                          <a:solidFill>
                            <a:srgbClr val="FFFFFF"/>
                          </a:solidFill>
                          <a:latin typeface="Arial"/>
                          <a:ea typeface="Arial"/>
                          <a:cs typeface="Arial"/>
                        </a:rPr>
                        <a:t>Ризик</a:t>
                      </a:r>
                    </a:p>
                  </a:txBody>
                  <a:tcPr marL="152400" marR="114300" marT="114300" marB="114300">
                    <a:lnL w="9525">
                      <a:solidFill>
                        <a:srgbClr val="CED8C7"/>
                      </a:solidFill>
                    </a:lnL>
                    <a:lnR w="9525">
                      <a:solidFill>
                        <a:srgbClr val="CED8C7"/>
                      </a:solidFill>
                    </a:lnR>
                    <a:lnT w="9525">
                      <a:solidFill>
                        <a:srgbClr val="CED8C7"/>
                      </a:solidFill>
                    </a:lnT>
                    <a:lnB w="9525">
                      <a:solidFill>
                        <a:srgbClr val="CED8C7"/>
                      </a:solidFill>
                    </a:lnB>
                    <a:solidFill>
                      <a:srgbClr val="285B43"/>
                    </a:solidFill>
                  </a:tcPr>
                </a:tc>
                <a:tc>
                  <a:txBody>
                    <a:bodyPr/>
                    <a:lstStyle/>
                    <a:p>
                      <a:r>
                        <a:rPr sz="1800" b="1">
                          <a:solidFill>
                            <a:srgbClr val="FFFFFF"/>
                          </a:solidFill>
                          <a:latin typeface="Arial"/>
                          <a:ea typeface="Arial"/>
                          <a:cs typeface="Arial"/>
                        </a:rPr>
                        <a:t>Відповідь</a:t>
                      </a:r>
                    </a:p>
                  </a:txBody>
                  <a:tcPr marL="152400" marR="114300" marT="114300" marB="114300">
                    <a:lnR w="9525">
                      <a:solidFill>
                        <a:srgbClr val="CED8C7"/>
                      </a:solidFill>
                    </a:lnR>
                    <a:lnT w="9525">
                      <a:solidFill>
                        <a:srgbClr val="CED8C7"/>
                      </a:solidFill>
                    </a:lnT>
                    <a:lnB w="9525">
                      <a:solidFill>
                        <a:srgbClr val="CED8C7"/>
                      </a:solidFill>
                    </a:lnB>
                    <a:solidFill>
                      <a:srgbClr val="285B43"/>
                    </a:solidFill>
                  </a:tcPr>
                </a:tc>
              </a:tr>
              <a:tr h="666750">
                <a:tc>
                  <a:txBody>
                    <a:bodyPr/>
                    <a:lstStyle/>
                    <a:p>
                      <a:r>
                        <a:rPr sz="1800" b="0">
                          <a:solidFill>
                            <a:srgbClr val="203E30"/>
                          </a:solidFill>
                          <a:latin typeface="Arial"/>
                          <a:ea typeface="Arial"/>
                          <a:cs typeface="Arial"/>
                        </a:rPr>
                        <a:t>Помилки AI</a:t>
                      </a:r>
                    </a:p>
                  </a:txBody>
                  <a:tcPr marL="152400" marR="114300" marT="114300" marB="114300">
                    <a:lnL w="9525">
                      <a:solidFill>
                        <a:srgbClr val="CED8C7"/>
                      </a:solidFill>
                    </a:lnL>
                    <a:lnR w="9525">
                      <a:solidFill>
                        <a:srgbClr val="CED8C7"/>
                      </a:solidFill>
                    </a:lnR>
                    <a:lnB w="9525">
                      <a:solidFill>
                        <a:srgbClr val="CED8C7"/>
                      </a:solidFill>
                    </a:lnB>
                    <a:solidFill>
                      <a:srgbClr val="FFFFFF"/>
                    </a:solidFill>
                  </a:tcPr>
                </a:tc>
                <a:tc>
                  <a:txBody>
                    <a:bodyPr/>
                    <a:lstStyle/>
                    <a:p>
                      <a:r>
                        <a:rPr sz="1800" b="0">
                          <a:solidFill>
                            <a:srgbClr val="203E30"/>
                          </a:solidFill>
                          <a:latin typeface="Arial"/>
                          <a:ea typeface="Arial"/>
                          <a:cs typeface="Arial"/>
                        </a:rPr>
                        <a:t>Перевірка й виправлення</a:t>
                      </a:r>
                    </a:p>
                  </a:txBody>
                  <a:tcPr marL="152400" marR="114300" marT="114300" marB="114300">
                    <a:lnR w="9525">
                      <a:solidFill>
                        <a:srgbClr val="CED8C7"/>
                      </a:solidFill>
                    </a:lnR>
                    <a:lnB w="9525">
                      <a:solidFill>
                        <a:srgbClr val="CED8C7"/>
                      </a:solidFill>
                    </a:lnB>
                    <a:solidFill>
                      <a:srgbClr val="FFFFFF"/>
                    </a:solidFill>
                  </a:tcPr>
                </a:tc>
              </a:tr>
              <a:tr h="666750">
                <a:tc>
                  <a:txBody>
                    <a:bodyPr/>
                    <a:lstStyle/>
                    <a:p>
                      <a:r>
                        <a:rPr sz="1800" b="0">
                          <a:solidFill>
                            <a:srgbClr val="203E30"/>
                          </a:solidFill>
                          <a:latin typeface="Arial"/>
                          <a:ea typeface="Arial"/>
                          <a:cs typeface="Arial"/>
                        </a:rPr>
                        <a:t>Податкова локалізація</a:t>
                      </a:r>
                    </a:p>
                  </a:txBody>
                  <a:tcPr marL="152400" marR="114300" marT="114300" marB="114300">
                    <a:lnL w="9525">
                      <a:solidFill>
                        <a:srgbClr val="CED8C7"/>
                      </a:solidFill>
                    </a:lnL>
                    <a:lnR w="9525">
                      <a:solidFill>
                        <a:srgbClr val="CED8C7"/>
                      </a:solidFill>
                    </a:lnR>
                    <a:lnB w="9525">
                      <a:solidFill>
                        <a:srgbClr val="CED8C7"/>
                      </a:solidFill>
                    </a:lnB>
                    <a:solidFill>
                      <a:srgbClr val="E5ECDD"/>
                    </a:solidFill>
                  </a:tcPr>
                </a:tc>
                <a:tc>
                  <a:txBody>
                    <a:bodyPr/>
                    <a:lstStyle/>
                    <a:p>
                      <a:r>
                        <a:rPr sz="1800" b="0">
                          <a:solidFill>
                            <a:srgbClr val="203E30"/>
                          </a:solidFill>
                          <a:latin typeface="Arial"/>
                          <a:ea typeface="Arial"/>
                          <a:cs typeface="Arial"/>
                        </a:rPr>
                        <a:t>Одна країна</a:t>
                      </a:r>
                    </a:p>
                  </a:txBody>
                  <a:tcPr marL="152400" marR="114300" marT="114300" marB="114300">
                    <a:lnR w="9525">
                      <a:solidFill>
                        <a:srgbClr val="CED8C7"/>
                      </a:solidFill>
                    </a:lnR>
                    <a:lnB w="9525">
                      <a:solidFill>
                        <a:srgbClr val="CED8C7"/>
                      </a:solidFill>
                    </a:lnB>
                    <a:solidFill>
                      <a:srgbClr val="E5ECDD"/>
                    </a:solidFill>
                  </a:tcPr>
                </a:tc>
              </a:tr>
              <a:tr h="666750">
                <a:tc>
                  <a:txBody>
                    <a:bodyPr/>
                    <a:lstStyle/>
                    <a:p>
                      <a:r>
                        <a:rPr sz="1800" b="0">
                          <a:solidFill>
                            <a:srgbClr val="203E30"/>
                          </a:solidFill>
                          <a:latin typeface="Arial"/>
                          <a:ea typeface="Arial"/>
                          <a:cs typeface="Arial"/>
                        </a:rPr>
                        <a:t>Конкуренція</a:t>
                      </a:r>
                    </a:p>
                  </a:txBody>
                  <a:tcPr marL="152400" marR="114300" marT="114300" marB="114300">
                    <a:lnL w="9525">
                      <a:solidFill>
                        <a:srgbClr val="CED8C7"/>
                      </a:solidFill>
                    </a:lnL>
                    <a:lnR w="9525">
                      <a:solidFill>
                        <a:srgbClr val="CED8C7"/>
                      </a:solidFill>
                    </a:lnR>
                    <a:lnB w="9525">
                      <a:solidFill>
                        <a:srgbClr val="CED8C7"/>
                      </a:solidFill>
                    </a:lnB>
                    <a:solidFill>
                      <a:srgbClr val="FFFFFF"/>
                    </a:solidFill>
                  </a:tcPr>
                </a:tc>
                <a:tc>
                  <a:txBody>
                    <a:bodyPr/>
                    <a:lstStyle/>
                    <a:p>
                      <a:r>
                        <a:rPr sz="1800" b="0">
                          <a:solidFill>
                            <a:srgbClr val="203E30"/>
                          </a:solidFill>
                          <a:latin typeface="Arial"/>
                          <a:ea typeface="Arial"/>
                          <a:cs typeface="Arial"/>
                        </a:rPr>
                        <a:t>Галузеві сценарії</a:t>
                      </a:r>
                    </a:p>
                  </a:txBody>
                  <a:tcPr marL="152400" marR="114300" marT="114300" marB="114300">
                    <a:lnR w="9525">
                      <a:solidFill>
                        <a:srgbClr val="CED8C7"/>
                      </a:solidFill>
                    </a:lnR>
                    <a:lnB w="9525">
                      <a:solidFill>
                        <a:srgbClr val="CED8C7"/>
                      </a:solidFill>
                    </a:lnB>
                    <a:solidFill>
                      <a:srgbClr val="FFFFFF"/>
                    </a:solidFill>
                  </a:tcPr>
                </a:tc>
              </a:tr>
              <a:tr h="666750">
                <a:tc>
                  <a:txBody>
                    <a:bodyPr/>
                    <a:lstStyle/>
                    <a:p>
                      <a:r>
                        <a:rPr sz="1800" b="0">
                          <a:solidFill>
                            <a:srgbClr val="203E30"/>
                          </a:solidFill>
                          <a:latin typeface="Arial"/>
                          <a:ea typeface="Arial"/>
                          <a:cs typeface="Arial"/>
                        </a:rPr>
                        <a:t>Високий CAC</a:t>
                      </a:r>
                    </a:p>
                  </a:txBody>
                  <a:tcPr marL="152400" marR="114300" marT="114300" marB="114300">
                    <a:lnL w="9525">
                      <a:solidFill>
                        <a:srgbClr val="CED8C7"/>
                      </a:solidFill>
                    </a:lnL>
                    <a:lnR w="9525">
                      <a:solidFill>
                        <a:srgbClr val="CED8C7"/>
                      </a:solidFill>
                    </a:lnR>
                    <a:lnB w="9525">
                      <a:solidFill>
                        <a:srgbClr val="CED8C7"/>
                      </a:solidFill>
                    </a:lnB>
                    <a:solidFill>
                      <a:srgbClr val="E5ECDD"/>
                    </a:solidFill>
                  </a:tcPr>
                </a:tc>
                <a:tc>
                  <a:txBody>
                    <a:bodyPr/>
                    <a:lstStyle/>
                    <a:p>
                      <a:r>
                        <a:rPr sz="1800" b="0">
                          <a:solidFill>
                            <a:srgbClr val="203E30"/>
                          </a:solidFill>
                          <a:latin typeface="Arial"/>
                          <a:ea typeface="Arial"/>
                          <a:cs typeface="Arial"/>
                        </a:rPr>
                        <a:t>Контент і рекомендації</a:t>
                      </a:r>
                    </a:p>
                  </a:txBody>
                  <a:tcPr marL="152400" marR="114300" marT="114300" marB="114300">
                    <a:lnR w="9525">
                      <a:solidFill>
                        <a:srgbClr val="CED8C7"/>
                      </a:solidFill>
                    </a:lnR>
                    <a:lnB w="9525">
                      <a:solidFill>
                        <a:srgbClr val="CED8C7"/>
                      </a:solidFill>
                    </a:lnB>
                    <a:solidFill>
                      <a:srgbClr val="E5ECDD"/>
                    </a:solidFill>
                  </a:tcPr>
                </a:tc>
              </a:tr>
            </a:tbl>
          </a:graphicData>
        </a:graphic>
      </p:graphicFrame>
    </p:spTree>
    <p:extLst>
      <p:ext uri="{BB962C8B-B14F-4D97-AF65-F5344CB8AC3E}">
        <p14:creationId xmlns:p14="http://schemas.microsoft.com/office/powerpoint/2010/main" val="1020022378"/>
      </p:ext>
    </p:extLst>
  </p:cSld>
</p:sld>
</file>

<file path=ppt/slides/slide14.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5CF9EC5F-2BEF-48A1-AD46-9098AAB4446A}"/>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Економіку клієнта потрібно підтвердити даними бети</a:t>
            </a:r>
          </a:p>
        </p:txBody>
      </p:sp>
      <p:sp>
        <p:nvSpPr>
          <p:cNvPr id="2" name="">
            <a:extLst xmlns:a="http://schemas.openxmlformats.org/drawingml/2006/main">
              <a:ext uri="{FF2B5EF4-FFF2-40B4-BE49-F238E27FC236}">
                <a16:creationId xmlns:a16="http://schemas.microsoft.com/office/drawing/2014/main" id="{B431320B-B9EF-48D0-A56D-C93E28B98C7C}"/>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F5B6EE46-2C16-4E08-A3BE-61BCE6EA682D}"/>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0D402C95-6C52-4983-86D1-2E491054E46F}"/>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Додаток. Гіпотези для перевірки, не фактичні показники.</a:t>
            </a:r>
          </a:p>
        </p:txBody>
      </p:sp>
      <p:graphicFrame>
        <p:nvGraphicFramePr>
          <p:cNvPr id="5" name="">
            <a:extLst xmlns:a="http://schemas.openxmlformats.org/drawingml/2006/main">
              <a:ext uri="{FF2B5EF4-FFF2-40B4-BE49-F238E27FC236}">
                <a16:creationId xmlns:a16="http://schemas.microsoft.com/office/drawing/2014/main" id="{82E7F974-FF1B-4BEA-A446-15AA00C8D51F}"/>
              </a:ext>
            </a:extLst>
          </p:cNvPr>
          <p:cNvGraphicFramePr/>
          <p:nvPr/>
        </p:nvGraphicFramePr>
        <p:xfrm>
          <a:off xmlns:a="http://schemas.openxmlformats.org/drawingml/2006/main" x="609600" y="2047875"/>
          <a:ext xmlns:a="http://schemas.openxmlformats.org/drawingml/2006/main" cx="10972800" cy="2952750"/>
        </p:xfrm>
        <a:graphic xmlns:a="http://schemas.openxmlformats.org/drawingml/2006/main">
          <a:graphicData uri="http://schemas.openxmlformats.org/drawingml/2006/table">
            <a:tbl>
              <a:tblPr/>
              <a:tblGrid>
                <a:gridCol w="5619750"/>
                <a:gridCol w="5353050"/>
              </a:tblGrid>
              <a:tr h="590550">
                <a:tc>
                  <a:txBody>
                    <a:bodyPr/>
                    <a:lstStyle/>
                    <a:p>
                      <a:r>
                        <a:rPr sz="1800" b="1">
                          <a:solidFill>
                            <a:srgbClr val="FFFFFF"/>
                          </a:solidFill>
                          <a:latin typeface="Arial"/>
                          <a:ea typeface="Arial"/>
                          <a:cs typeface="Arial"/>
                        </a:rPr>
                        <a:t>Показник</a:t>
                      </a:r>
                    </a:p>
                  </a:txBody>
                  <a:tcPr marL="152400" marR="114300" marT="114300" marB="114300">
                    <a:lnL w="9525">
                      <a:solidFill>
                        <a:srgbClr val="CED8C7"/>
                      </a:solidFill>
                    </a:lnL>
                    <a:lnR w="9525">
                      <a:solidFill>
                        <a:srgbClr val="CED8C7"/>
                      </a:solidFill>
                    </a:lnR>
                    <a:lnT w="9525">
                      <a:solidFill>
                        <a:srgbClr val="CED8C7"/>
                      </a:solidFill>
                    </a:lnT>
                    <a:lnB w="9525">
                      <a:solidFill>
                        <a:srgbClr val="CED8C7"/>
                      </a:solidFill>
                    </a:lnB>
                    <a:solidFill>
                      <a:srgbClr val="285B43"/>
                    </a:solidFill>
                  </a:tcPr>
                </a:tc>
                <a:tc>
                  <a:txBody>
                    <a:bodyPr/>
                    <a:lstStyle/>
                    <a:p>
                      <a:r>
                        <a:rPr sz="1800" b="1">
                          <a:solidFill>
                            <a:srgbClr val="FFFFFF"/>
                          </a:solidFill>
                          <a:latin typeface="Arial"/>
                          <a:ea typeface="Arial"/>
                          <a:cs typeface="Arial"/>
                        </a:rPr>
                        <a:t>Припущення</a:t>
                      </a:r>
                    </a:p>
                  </a:txBody>
                  <a:tcPr marL="152400" marR="114300" marT="114300" marB="114300">
                    <a:lnR w="9525">
                      <a:solidFill>
                        <a:srgbClr val="CED8C7"/>
                      </a:solidFill>
                    </a:lnR>
                    <a:lnT w="9525">
                      <a:solidFill>
                        <a:srgbClr val="CED8C7"/>
                      </a:solidFill>
                    </a:lnT>
                    <a:lnB w="9525">
                      <a:solidFill>
                        <a:srgbClr val="CED8C7"/>
                      </a:solidFill>
                    </a:lnB>
                    <a:solidFill>
                      <a:srgbClr val="285B43"/>
                    </a:solidFill>
                  </a:tcPr>
                </a:tc>
              </a:tr>
              <a:tr h="590550">
                <a:tc>
                  <a:txBody>
                    <a:bodyPr/>
                    <a:lstStyle/>
                    <a:p>
                      <a:r>
                        <a:rPr sz="1800" b="0">
                          <a:solidFill>
                            <a:srgbClr val="203E30"/>
                          </a:solidFill>
                          <a:latin typeface="Arial"/>
                          <a:ea typeface="Arial"/>
                          <a:cs typeface="Arial"/>
                        </a:rPr>
                        <a:t>ARPU</a:t>
                      </a:r>
                    </a:p>
                  </a:txBody>
                  <a:tcPr marL="152400" marR="114300" marT="114300" marB="114300">
                    <a:lnL w="9525">
                      <a:solidFill>
                        <a:srgbClr val="CED8C7"/>
                      </a:solidFill>
                    </a:lnL>
                    <a:lnR w="9525">
                      <a:solidFill>
                        <a:srgbClr val="CED8C7"/>
                      </a:solidFill>
                    </a:lnR>
                    <a:lnB w="9525">
                      <a:solidFill>
                        <a:srgbClr val="CED8C7"/>
                      </a:solidFill>
                    </a:lnB>
                    <a:solidFill>
                      <a:srgbClr val="FFFFFF"/>
                    </a:solidFill>
                  </a:tcPr>
                </a:tc>
                <a:tc>
                  <a:txBody>
                    <a:bodyPr/>
                    <a:lstStyle/>
                    <a:p>
                      <a:r>
                        <a:rPr sz="1800" b="0">
                          <a:solidFill>
                            <a:srgbClr val="203E30"/>
                          </a:solidFill>
                          <a:latin typeface="Arial"/>
                          <a:ea typeface="Arial"/>
                          <a:cs typeface="Arial"/>
                        </a:rPr>
                        <a:t>$25 / місяць</a:t>
                      </a:r>
                    </a:p>
                  </a:txBody>
                  <a:tcPr marL="152400" marR="114300" marT="114300" marB="114300">
                    <a:lnR w="9525">
                      <a:solidFill>
                        <a:srgbClr val="CED8C7"/>
                      </a:solidFill>
                    </a:lnR>
                    <a:lnB w="9525">
                      <a:solidFill>
                        <a:srgbClr val="CED8C7"/>
                      </a:solidFill>
                    </a:lnB>
                    <a:solidFill>
                      <a:srgbClr val="FFFFFF"/>
                    </a:solidFill>
                  </a:tcPr>
                </a:tc>
              </a:tr>
              <a:tr h="590550">
                <a:tc>
                  <a:txBody>
                    <a:bodyPr/>
                    <a:lstStyle/>
                    <a:p>
                      <a:r>
                        <a:rPr sz="1800" b="0">
                          <a:solidFill>
                            <a:srgbClr val="203E30"/>
                          </a:solidFill>
                          <a:latin typeface="Arial"/>
                          <a:ea typeface="Arial"/>
                          <a:cs typeface="Arial"/>
                        </a:rPr>
                        <a:t>Конверсія в оплату</a:t>
                      </a:r>
                    </a:p>
                  </a:txBody>
                  <a:tcPr marL="152400" marR="114300" marT="114300" marB="114300">
                    <a:lnL w="9525">
                      <a:solidFill>
                        <a:srgbClr val="CED8C7"/>
                      </a:solidFill>
                    </a:lnL>
                    <a:lnR w="9525">
                      <a:solidFill>
                        <a:srgbClr val="CED8C7"/>
                      </a:solidFill>
                    </a:lnR>
                    <a:lnB w="9525">
                      <a:solidFill>
                        <a:srgbClr val="CED8C7"/>
                      </a:solidFill>
                    </a:lnB>
                    <a:solidFill>
                      <a:srgbClr val="E5ECDD"/>
                    </a:solidFill>
                  </a:tcPr>
                </a:tc>
                <a:tc>
                  <a:txBody>
                    <a:bodyPr/>
                    <a:lstStyle/>
                    <a:p>
                      <a:r>
                        <a:rPr sz="1800" b="0">
                          <a:solidFill>
                            <a:srgbClr val="203E30"/>
                          </a:solidFill>
                          <a:latin typeface="Arial"/>
                          <a:ea typeface="Arial"/>
                          <a:cs typeface="Arial"/>
                        </a:rPr>
                        <a:t>3–5%</a:t>
                      </a:r>
                    </a:p>
                  </a:txBody>
                  <a:tcPr marL="152400" marR="114300" marT="114300" marB="114300">
                    <a:lnR w="9525">
                      <a:solidFill>
                        <a:srgbClr val="CED8C7"/>
                      </a:solidFill>
                    </a:lnR>
                    <a:lnB w="9525">
                      <a:solidFill>
                        <a:srgbClr val="CED8C7"/>
                      </a:solidFill>
                    </a:lnB>
                    <a:solidFill>
                      <a:srgbClr val="E5ECDD"/>
                    </a:solidFill>
                  </a:tcPr>
                </a:tc>
              </a:tr>
              <a:tr h="590550">
                <a:tc>
                  <a:txBody>
                    <a:bodyPr/>
                    <a:lstStyle/>
                    <a:p>
                      <a:r>
                        <a:rPr sz="1800" b="0">
                          <a:solidFill>
                            <a:srgbClr val="203E30"/>
                          </a:solidFill>
                          <a:latin typeface="Arial"/>
                          <a:ea typeface="Arial"/>
                          <a:cs typeface="Arial"/>
                        </a:rPr>
                        <a:t>CAC / маржа / відтік</a:t>
                      </a:r>
                    </a:p>
                  </a:txBody>
                  <a:tcPr marL="152400" marR="114300" marT="114300" marB="114300">
                    <a:lnL w="9525">
                      <a:solidFill>
                        <a:srgbClr val="CED8C7"/>
                      </a:solidFill>
                    </a:lnL>
                    <a:lnR w="9525">
                      <a:solidFill>
                        <a:srgbClr val="CED8C7"/>
                      </a:solidFill>
                    </a:lnR>
                    <a:lnB w="9525">
                      <a:solidFill>
                        <a:srgbClr val="CED8C7"/>
                      </a:solidFill>
                    </a:lnB>
                    <a:solidFill>
                      <a:srgbClr val="FFFFFF"/>
                    </a:solidFill>
                  </a:tcPr>
                </a:tc>
                <a:tc>
                  <a:txBody>
                    <a:bodyPr/>
                    <a:lstStyle/>
                    <a:p>
                      <a:r>
                        <a:rPr sz="1800" b="0">
                          <a:solidFill>
                            <a:srgbClr val="203E30"/>
                          </a:solidFill>
                          <a:latin typeface="Arial"/>
                          <a:ea typeface="Arial"/>
                          <a:cs typeface="Arial"/>
                        </a:rPr>
                        <a:t>[Виміряти]</a:t>
                      </a:r>
                    </a:p>
                  </a:txBody>
                  <a:tcPr marL="152400" marR="114300" marT="114300" marB="114300">
                    <a:lnR w="9525">
                      <a:solidFill>
                        <a:srgbClr val="CED8C7"/>
                      </a:solidFill>
                    </a:lnR>
                    <a:lnB w="9525">
                      <a:solidFill>
                        <a:srgbClr val="CED8C7"/>
                      </a:solidFill>
                    </a:lnB>
                    <a:solidFill>
                      <a:srgbClr val="FFFFFF"/>
                    </a:solidFill>
                  </a:tcPr>
                </a:tc>
              </a:tr>
              <a:tr h="590550">
                <a:tc>
                  <a:txBody>
                    <a:bodyPr/>
                    <a:lstStyle/>
                    <a:p>
                      <a:r>
                        <a:rPr sz="1800" b="0">
                          <a:solidFill>
                            <a:srgbClr val="203E30"/>
                          </a:solidFill>
                          <a:latin typeface="Arial"/>
                          <a:ea typeface="Arial"/>
                          <a:cs typeface="Arial"/>
                        </a:rPr>
                        <a:t>Окупність залучення</a:t>
                      </a:r>
                    </a:p>
                  </a:txBody>
                  <a:tcPr marL="152400" marR="114300" marT="114300" marB="114300">
                    <a:lnL w="9525">
                      <a:solidFill>
                        <a:srgbClr val="CED8C7"/>
                      </a:solidFill>
                    </a:lnL>
                    <a:lnR w="9525">
                      <a:solidFill>
                        <a:srgbClr val="CED8C7"/>
                      </a:solidFill>
                    </a:lnR>
                    <a:lnB w="9525">
                      <a:solidFill>
                        <a:srgbClr val="CED8C7"/>
                      </a:solidFill>
                    </a:lnB>
                    <a:solidFill>
                      <a:srgbClr val="E5ECDD"/>
                    </a:solidFill>
                  </a:tcPr>
                </a:tc>
                <a:tc>
                  <a:txBody>
                    <a:bodyPr/>
                    <a:lstStyle/>
                    <a:p>
                      <a:r>
                        <a:rPr sz="1800" b="0">
                          <a:solidFill>
                            <a:srgbClr val="203E30"/>
                          </a:solidFill>
                          <a:latin typeface="Arial"/>
                          <a:ea typeface="Arial"/>
                          <a:cs typeface="Arial"/>
                        </a:rPr>
                        <a:t>[Розрахувати]</a:t>
                      </a:r>
                    </a:p>
                  </a:txBody>
                  <a:tcPr marL="152400" marR="114300" marT="114300" marB="114300">
                    <a:lnR w="9525">
                      <a:solidFill>
                        <a:srgbClr val="CED8C7"/>
                      </a:solidFill>
                    </a:lnR>
                    <a:lnB w="9525">
                      <a:solidFill>
                        <a:srgbClr val="CED8C7"/>
                      </a:solidFill>
                    </a:lnB>
                    <a:solidFill>
                      <a:srgbClr val="E5ECDD"/>
                    </a:solidFill>
                  </a:tcPr>
                </a:tc>
              </a:tr>
            </a:tbl>
          </a:graphicData>
        </a:graphic>
      </p:graphicFrame>
      <p:sp>
        <p:nvSpPr>
          <p:cNvPr id="6" name="">
            <a:extLst xmlns:a="http://schemas.openxmlformats.org/drawingml/2006/main">
              <a:ext uri="{FF2B5EF4-FFF2-40B4-BE49-F238E27FC236}">
                <a16:creationId xmlns:a16="http://schemas.microsoft.com/office/drawing/2014/main" id="{33F491D3-A891-47E7-B0A4-323331DE4A08}"/>
              </a:ext>
            </a:extLst>
          </p:cNvPr>
          <p:cNvSpPr>
            <a:spLocks xmlns:a="http://schemas.openxmlformats.org/drawingml/2006/main" noGrp="1"/>
          </p:cNvSpPr>
          <p:nvPr/>
        </p:nvSpPr>
        <p:spPr>
          <a:xfrm xmlns:a="http://schemas.openxmlformats.org/drawingml/2006/main">
            <a:off x="609600" y="52863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285B43"/>
                </a:solidFill>
                <a:latin typeface="Calibri"/>
                <a:ea typeface="Calibri"/>
                <a:cs typeface="Calibri"/>
              </a:defRPr>
            </a:defPPr>
          </a:lstStyle>
          <a:p xmlns:a="http://schemas.openxmlformats.org/drawingml/2006/main">
            <a:pPr>
              <a:defRPr sz="2100" b="1">
                <a:solidFill>
                  <a:srgbClr val="285B43"/>
                </a:solidFill>
                <a:latin typeface="Calibri"/>
                <a:ea typeface="Calibri"/>
                <a:cs typeface="Calibri"/>
              </a:defRPr>
            </a:pPr>
            <a:r>
              <a:rPr sz="2100" b="1">
                <a:solidFill>
                  <a:srgbClr val="285B43"/>
                </a:solidFill>
                <a:latin typeface="Calibri"/>
                <a:ea typeface="Calibri"/>
                <a:cs typeface="Calibri"/>
              </a:rPr>
              <a:t>1 000 платних ≈ 20–33 тис. безкоштовних користувачів</a:t>
            </a:r>
          </a:p>
        </p:txBody>
      </p:sp>
    </p:spTree>
    <p:extLst>
      <p:ext uri="{BB962C8B-B14F-4D97-AF65-F5344CB8AC3E}">
        <p14:creationId xmlns:p14="http://schemas.microsoft.com/office/powerpoint/2010/main" val="5621321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2026-10-15T19:07:45.6830000Z</dcterms:created>
  <dcterms:modified xsi:type="dcterms:W3CDTF">2026-10-15T19:07:45.6830000Z</dcterms:modified>
</coreProperties>
</file>